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Rocket Explainer. A planned tool that turns things into explainers, and takes the look of them seriously. Which brings us to the point of the whole exercise: the style loop is the product. Everything else is plumbing. Quite good plumbing, but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simple. Point /explainer at a meeting, a paper or a folder. Out comes a video, a deck, a one-pager or a briefing doc, all refined in a local web app. This slide, for the record, is one of them: a deck. [Build: the yellow ring around DECK draws on over 250 ms as 'a deck' is spoken, then holds through the rest of the narration plus about 800 ms of stillness before the transition. It does not fade before the slide ends. In the PPTX it is simply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Opus 5 produced explainers that were, to be generous, meh. Fable 5.1 was a dramatic step up. Opus 5.5 can probably match it, but only if the style instructions are refined enough. That is why a style here is a named, versioned asset, not a line tacked onto a prompt. The word 'probably' is doing some work in that sentence. It has not been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rendering pipeline already exists. HyperFrames and Remotion will happily turn a scene into an MP4. What nobody ships is a loop for refining a style. You pick from fixed presets: thirteen in HyperFrames, ten static themes in theme-factory, and that is that. The survey's verdict was short. Build this. It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look you want, in plain words. Neon, smooth camera, room for humour. Rocket renders a ten-second sample that exercises everything the style has to do. You watch it, and you comment: contrast too low, say. A headless agent re-renders. That comment and re-render step is the loop that matters; each round refines the style prompt a little more. When it finally looks right, you save it as a version, v1, v2 and so on, which anyone can clone. One repeats this until it stops looking meh.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saved style is a DESIGN.md file. The tokens, palette and type, come from Google's format. What it lacks, we add: motion, camera, voice, and rules for each output type. One file drives all four formats: video, deck, one-pager and doc. This deck is one of them. You are, in a sense, inside the product. Try not to touch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80D"/>
        </a:solidFill>
      </p:bgPr>
    </p:bg>
    <p:spTree>
      <p:nvGrpSpPr>
        <p:cNvPr id="1" name=""/>
        <p:cNvGrpSpPr/>
        <p:nvPr/>
      </p:nvGrpSpPr>
      <p:grpSpPr>
        <a:xfrm>
          <a:off x="0" y="0"/>
          <a:ext cx="0" cy="0"/>
          <a:chOff x="0" y="0"/>
          <a:chExt cx="0" cy="0"/>
        </a:xfrm>
      </p:grpSpPr>
      <p:sp>
        <p:nvSpPr>
          <p:cNvPr id="2" name="Shape 0"/>
          <p:cNvSpPr/>
          <p:nvPr/>
        </p:nvSpPr>
        <p:spPr>
          <a:xfrm>
            <a:off x="0" y="0"/>
            <a:ext cx="0" cy="6857829"/>
          </a:xfrm>
          <a:prstGeom prst="line">
            <a:avLst/>
          </a:prstGeom>
          <a:noFill/>
          <a:ln w="6350">
            <a:solidFill>
              <a:srgbClr val="070E15"/>
            </a:solidFill>
            <a:prstDash val="solid"/>
            <a:headEnd type="none"/>
            <a:tailEnd type="none"/>
          </a:ln>
        </p:spPr>
      </p:sp>
      <p:sp>
        <p:nvSpPr>
          <p:cNvPr id="3" name="Shape 1"/>
          <p:cNvSpPr/>
          <p:nvPr/>
        </p:nvSpPr>
        <p:spPr>
          <a:xfrm>
            <a:off x="304792" y="0"/>
            <a:ext cx="0" cy="6857829"/>
          </a:xfrm>
          <a:prstGeom prst="line">
            <a:avLst/>
          </a:prstGeom>
          <a:noFill/>
          <a:ln w="6350">
            <a:solidFill>
              <a:srgbClr val="070E15"/>
            </a:solidFill>
            <a:prstDash val="solid"/>
            <a:headEnd type="none"/>
            <a:tailEnd type="none"/>
          </a:ln>
        </p:spPr>
      </p:sp>
      <p:sp>
        <p:nvSpPr>
          <p:cNvPr id="4" name="Shape 2"/>
          <p:cNvSpPr/>
          <p:nvPr/>
        </p:nvSpPr>
        <p:spPr>
          <a:xfrm>
            <a:off x="609585" y="0"/>
            <a:ext cx="0" cy="6857829"/>
          </a:xfrm>
          <a:prstGeom prst="line">
            <a:avLst/>
          </a:prstGeom>
          <a:noFill/>
          <a:ln w="6350">
            <a:solidFill>
              <a:srgbClr val="070E15"/>
            </a:solidFill>
            <a:prstDash val="solid"/>
            <a:headEnd type="none"/>
            <a:tailEnd type="none"/>
          </a:ln>
        </p:spPr>
      </p:sp>
      <p:sp>
        <p:nvSpPr>
          <p:cNvPr id="5" name="Shape 3"/>
          <p:cNvSpPr/>
          <p:nvPr/>
        </p:nvSpPr>
        <p:spPr>
          <a:xfrm>
            <a:off x="914377" y="0"/>
            <a:ext cx="0" cy="6857829"/>
          </a:xfrm>
          <a:prstGeom prst="line">
            <a:avLst/>
          </a:prstGeom>
          <a:noFill/>
          <a:ln w="6350">
            <a:solidFill>
              <a:srgbClr val="070E15"/>
            </a:solidFill>
            <a:prstDash val="solid"/>
            <a:headEnd type="none"/>
            <a:tailEnd type="none"/>
          </a:ln>
        </p:spPr>
      </p:sp>
      <p:sp>
        <p:nvSpPr>
          <p:cNvPr id="6" name="Shape 4"/>
          <p:cNvSpPr/>
          <p:nvPr/>
        </p:nvSpPr>
        <p:spPr>
          <a:xfrm>
            <a:off x="1219170" y="0"/>
            <a:ext cx="0" cy="6857829"/>
          </a:xfrm>
          <a:prstGeom prst="line">
            <a:avLst/>
          </a:prstGeom>
          <a:noFill/>
          <a:ln w="6350">
            <a:solidFill>
              <a:srgbClr val="070E15"/>
            </a:solidFill>
            <a:prstDash val="solid"/>
            <a:headEnd type="none"/>
            <a:tailEnd type="none"/>
          </a:ln>
        </p:spPr>
      </p:sp>
      <p:sp>
        <p:nvSpPr>
          <p:cNvPr id="7" name="Shape 5"/>
          <p:cNvSpPr/>
          <p:nvPr/>
        </p:nvSpPr>
        <p:spPr>
          <a:xfrm>
            <a:off x="1523962" y="0"/>
            <a:ext cx="0" cy="6857829"/>
          </a:xfrm>
          <a:prstGeom prst="line">
            <a:avLst/>
          </a:prstGeom>
          <a:noFill/>
          <a:ln w="6350">
            <a:solidFill>
              <a:srgbClr val="070E15"/>
            </a:solidFill>
            <a:prstDash val="solid"/>
            <a:headEnd type="none"/>
            <a:tailEnd type="none"/>
          </a:ln>
        </p:spPr>
      </p:sp>
      <p:sp>
        <p:nvSpPr>
          <p:cNvPr id="8" name="Shape 6"/>
          <p:cNvSpPr/>
          <p:nvPr/>
        </p:nvSpPr>
        <p:spPr>
          <a:xfrm>
            <a:off x="1828754" y="0"/>
            <a:ext cx="0" cy="6857829"/>
          </a:xfrm>
          <a:prstGeom prst="line">
            <a:avLst/>
          </a:prstGeom>
          <a:noFill/>
          <a:ln w="6350">
            <a:solidFill>
              <a:srgbClr val="070E15"/>
            </a:solidFill>
            <a:prstDash val="solid"/>
            <a:headEnd type="none"/>
            <a:tailEnd type="none"/>
          </a:ln>
        </p:spPr>
      </p:sp>
      <p:sp>
        <p:nvSpPr>
          <p:cNvPr id="9" name="Shape 7"/>
          <p:cNvSpPr/>
          <p:nvPr/>
        </p:nvSpPr>
        <p:spPr>
          <a:xfrm>
            <a:off x="2133547" y="0"/>
            <a:ext cx="0" cy="6857829"/>
          </a:xfrm>
          <a:prstGeom prst="line">
            <a:avLst/>
          </a:prstGeom>
          <a:noFill/>
          <a:ln w="6350">
            <a:solidFill>
              <a:srgbClr val="070E15"/>
            </a:solidFill>
            <a:prstDash val="solid"/>
            <a:headEnd type="none"/>
            <a:tailEnd type="none"/>
          </a:ln>
        </p:spPr>
      </p:sp>
      <p:sp>
        <p:nvSpPr>
          <p:cNvPr id="10" name="Shape 8"/>
          <p:cNvSpPr/>
          <p:nvPr/>
        </p:nvSpPr>
        <p:spPr>
          <a:xfrm>
            <a:off x="2438339" y="0"/>
            <a:ext cx="0" cy="6857829"/>
          </a:xfrm>
          <a:prstGeom prst="line">
            <a:avLst/>
          </a:prstGeom>
          <a:noFill/>
          <a:ln w="6350">
            <a:solidFill>
              <a:srgbClr val="070E15"/>
            </a:solidFill>
            <a:prstDash val="solid"/>
            <a:headEnd type="none"/>
            <a:tailEnd type="none"/>
          </a:ln>
        </p:spPr>
      </p:sp>
      <p:sp>
        <p:nvSpPr>
          <p:cNvPr id="11" name="Shape 9"/>
          <p:cNvSpPr/>
          <p:nvPr/>
        </p:nvSpPr>
        <p:spPr>
          <a:xfrm>
            <a:off x="2743131" y="0"/>
            <a:ext cx="0" cy="6857829"/>
          </a:xfrm>
          <a:prstGeom prst="line">
            <a:avLst/>
          </a:prstGeom>
          <a:noFill/>
          <a:ln w="6350">
            <a:solidFill>
              <a:srgbClr val="070E15"/>
            </a:solidFill>
            <a:prstDash val="solid"/>
            <a:headEnd type="none"/>
            <a:tailEnd type="none"/>
          </a:ln>
        </p:spPr>
      </p:sp>
      <p:sp>
        <p:nvSpPr>
          <p:cNvPr id="12" name="Shape 10"/>
          <p:cNvSpPr/>
          <p:nvPr/>
        </p:nvSpPr>
        <p:spPr>
          <a:xfrm>
            <a:off x="3047924" y="0"/>
            <a:ext cx="0" cy="6857829"/>
          </a:xfrm>
          <a:prstGeom prst="line">
            <a:avLst/>
          </a:prstGeom>
          <a:noFill/>
          <a:ln w="6350">
            <a:solidFill>
              <a:srgbClr val="070E15"/>
            </a:solidFill>
            <a:prstDash val="solid"/>
            <a:headEnd type="none"/>
            <a:tailEnd type="none"/>
          </a:ln>
        </p:spPr>
      </p:sp>
      <p:sp>
        <p:nvSpPr>
          <p:cNvPr id="13" name="Shape 11"/>
          <p:cNvSpPr/>
          <p:nvPr/>
        </p:nvSpPr>
        <p:spPr>
          <a:xfrm>
            <a:off x="3352716" y="0"/>
            <a:ext cx="0" cy="6857829"/>
          </a:xfrm>
          <a:prstGeom prst="line">
            <a:avLst/>
          </a:prstGeom>
          <a:noFill/>
          <a:ln w="6350">
            <a:solidFill>
              <a:srgbClr val="070E15"/>
            </a:solidFill>
            <a:prstDash val="solid"/>
            <a:headEnd type="none"/>
            <a:tailEnd type="none"/>
          </a:ln>
        </p:spPr>
      </p:sp>
      <p:sp>
        <p:nvSpPr>
          <p:cNvPr id="14" name="Shape 12"/>
          <p:cNvSpPr/>
          <p:nvPr/>
        </p:nvSpPr>
        <p:spPr>
          <a:xfrm>
            <a:off x="3657509" y="0"/>
            <a:ext cx="0" cy="6857829"/>
          </a:xfrm>
          <a:prstGeom prst="line">
            <a:avLst/>
          </a:prstGeom>
          <a:noFill/>
          <a:ln w="6350">
            <a:solidFill>
              <a:srgbClr val="070E15"/>
            </a:solidFill>
            <a:prstDash val="solid"/>
            <a:headEnd type="none"/>
            <a:tailEnd type="none"/>
          </a:ln>
        </p:spPr>
      </p:sp>
      <p:sp>
        <p:nvSpPr>
          <p:cNvPr id="15" name="Shape 13"/>
          <p:cNvSpPr/>
          <p:nvPr/>
        </p:nvSpPr>
        <p:spPr>
          <a:xfrm>
            <a:off x="3962301" y="0"/>
            <a:ext cx="0" cy="6857829"/>
          </a:xfrm>
          <a:prstGeom prst="line">
            <a:avLst/>
          </a:prstGeom>
          <a:noFill/>
          <a:ln w="6350">
            <a:solidFill>
              <a:srgbClr val="070E15"/>
            </a:solidFill>
            <a:prstDash val="solid"/>
            <a:headEnd type="none"/>
            <a:tailEnd type="none"/>
          </a:ln>
        </p:spPr>
      </p:sp>
      <p:sp>
        <p:nvSpPr>
          <p:cNvPr id="16" name="Shape 14"/>
          <p:cNvSpPr/>
          <p:nvPr/>
        </p:nvSpPr>
        <p:spPr>
          <a:xfrm>
            <a:off x="4267093" y="0"/>
            <a:ext cx="0" cy="6857829"/>
          </a:xfrm>
          <a:prstGeom prst="line">
            <a:avLst/>
          </a:prstGeom>
          <a:noFill/>
          <a:ln w="6350">
            <a:solidFill>
              <a:srgbClr val="070E15"/>
            </a:solidFill>
            <a:prstDash val="solid"/>
            <a:headEnd type="none"/>
            <a:tailEnd type="none"/>
          </a:ln>
        </p:spPr>
      </p:sp>
      <p:sp>
        <p:nvSpPr>
          <p:cNvPr id="17" name="Shape 15"/>
          <p:cNvSpPr/>
          <p:nvPr/>
        </p:nvSpPr>
        <p:spPr>
          <a:xfrm>
            <a:off x="4571886" y="0"/>
            <a:ext cx="0" cy="6857829"/>
          </a:xfrm>
          <a:prstGeom prst="line">
            <a:avLst/>
          </a:prstGeom>
          <a:noFill/>
          <a:ln w="6350">
            <a:solidFill>
              <a:srgbClr val="070E15"/>
            </a:solidFill>
            <a:prstDash val="solid"/>
            <a:headEnd type="none"/>
            <a:tailEnd type="none"/>
          </a:ln>
        </p:spPr>
      </p:sp>
      <p:sp>
        <p:nvSpPr>
          <p:cNvPr id="18" name="Shape 16"/>
          <p:cNvSpPr/>
          <p:nvPr/>
        </p:nvSpPr>
        <p:spPr>
          <a:xfrm>
            <a:off x="4876678" y="0"/>
            <a:ext cx="0" cy="6857829"/>
          </a:xfrm>
          <a:prstGeom prst="line">
            <a:avLst/>
          </a:prstGeom>
          <a:noFill/>
          <a:ln w="6350">
            <a:solidFill>
              <a:srgbClr val="070E15"/>
            </a:solidFill>
            <a:prstDash val="solid"/>
            <a:headEnd type="none"/>
            <a:tailEnd type="none"/>
          </a:ln>
        </p:spPr>
      </p:sp>
      <p:sp>
        <p:nvSpPr>
          <p:cNvPr id="19" name="Shape 17"/>
          <p:cNvSpPr/>
          <p:nvPr/>
        </p:nvSpPr>
        <p:spPr>
          <a:xfrm>
            <a:off x="5181470" y="0"/>
            <a:ext cx="0" cy="6857829"/>
          </a:xfrm>
          <a:prstGeom prst="line">
            <a:avLst/>
          </a:prstGeom>
          <a:noFill/>
          <a:ln w="6350">
            <a:solidFill>
              <a:srgbClr val="070E15"/>
            </a:solidFill>
            <a:prstDash val="solid"/>
            <a:headEnd type="none"/>
            <a:tailEnd type="none"/>
          </a:ln>
        </p:spPr>
      </p:sp>
      <p:sp>
        <p:nvSpPr>
          <p:cNvPr id="20" name="Shape 18"/>
          <p:cNvSpPr/>
          <p:nvPr/>
        </p:nvSpPr>
        <p:spPr>
          <a:xfrm>
            <a:off x="5486263" y="0"/>
            <a:ext cx="0" cy="6857829"/>
          </a:xfrm>
          <a:prstGeom prst="line">
            <a:avLst/>
          </a:prstGeom>
          <a:noFill/>
          <a:ln w="6350">
            <a:solidFill>
              <a:srgbClr val="070E15"/>
            </a:solidFill>
            <a:prstDash val="solid"/>
            <a:headEnd type="none"/>
            <a:tailEnd type="none"/>
          </a:ln>
        </p:spPr>
      </p:sp>
      <p:sp>
        <p:nvSpPr>
          <p:cNvPr id="21" name="Shape 19"/>
          <p:cNvSpPr/>
          <p:nvPr/>
        </p:nvSpPr>
        <p:spPr>
          <a:xfrm>
            <a:off x="5791055" y="0"/>
            <a:ext cx="0" cy="6857829"/>
          </a:xfrm>
          <a:prstGeom prst="line">
            <a:avLst/>
          </a:prstGeom>
          <a:noFill/>
          <a:ln w="6350">
            <a:solidFill>
              <a:srgbClr val="070E15"/>
            </a:solidFill>
            <a:prstDash val="solid"/>
            <a:headEnd type="none"/>
            <a:tailEnd type="none"/>
          </a:ln>
        </p:spPr>
      </p:sp>
      <p:sp>
        <p:nvSpPr>
          <p:cNvPr id="22" name="Shape 20"/>
          <p:cNvSpPr/>
          <p:nvPr/>
        </p:nvSpPr>
        <p:spPr>
          <a:xfrm>
            <a:off x="6095848" y="0"/>
            <a:ext cx="0" cy="6857829"/>
          </a:xfrm>
          <a:prstGeom prst="line">
            <a:avLst/>
          </a:prstGeom>
          <a:noFill/>
          <a:ln w="6350">
            <a:solidFill>
              <a:srgbClr val="070E15"/>
            </a:solidFill>
            <a:prstDash val="solid"/>
            <a:headEnd type="none"/>
            <a:tailEnd type="none"/>
          </a:ln>
        </p:spPr>
      </p:sp>
      <p:sp>
        <p:nvSpPr>
          <p:cNvPr id="23" name="Shape 21"/>
          <p:cNvSpPr/>
          <p:nvPr/>
        </p:nvSpPr>
        <p:spPr>
          <a:xfrm>
            <a:off x="6400640" y="0"/>
            <a:ext cx="0" cy="6857829"/>
          </a:xfrm>
          <a:prstGeom prst="line">
            <a:avLst/>
          </a:prstGeom>
          <a:noFill/>
          <a:ln w="6350">
            <a:solidFill>
              <a:srgbClr val="070E15"/>
            </a:solidFill>
            <a:prstDash val="solid"/>
            <a:headEnd type="none"/>
            <a:tailEnd type="none"/>
          </a:ln>
        </p:spPr>
      </p:sp>
      <p:sp>
        <p:nvSpPr>
          <p:cNvPr id="24" name="Shape 22"/>
          <p:cNvSpPr/>
          <p:nvPr/>
        </p:nvSpPr>
        <p:spPr>
          <a:xfrm>
            <a:off x="6705432" y="0"/>
            <a:ext cx="0" cy="6857829"/>
          </a:xfrm>
          <a:prstGeom prst="line">
            <a:avLst/>
          </a:prstGeom>
          <a:noFill/>
          <a:ln w="6350">
            <a:solidFill>
              <a:srgbClr val="070E15"/>
            </a:solidFill>
            <a:prstDash val="solid"/>
            <a:headEnd type="none"/>
            <a:tailEnd type="none"/>
          </a:ln>
        </p:spPr>
      </p:sp>
      <p:sp>
        <p:nvSpPr>
          <p:cNvPr id="25" name="Shape 23"/>
          <p:cNvSpPr/>
          <p:nvPr/>
        </p:nvSpPr>
        <p:spPr>
          <a:xfrm>
            <a:off x="7010225" y="0"/>
            <a:ext cx="0" cy="6857829"/>
          </a:xfrm>
          <a:prstGeom prst="line">
            <a:avLst/>
          </a:prstGeom>
          <a:noFill/>
          <a:ln w="6350">
            <a:solidFill>
              <a:srgbClr val="070E15"/>
            </a:solidFill>
            <a:prstDash val="solid"/>
            <a:headEnd type="none"/>
            <a:tailEnd type="none"/>
          </a:ln>
        </p:spPr>
      </p:sp>
      <p:sp>
        <p:nvSpPr>
          <p:cNvPr id="26" name="Shape 24"/>
          <p:cNvSpPr/>
          <p:nvPr/>
        </p:nvSpPr>
        <p:spPr>
          <a:xfrm>
            <a:off x="7315017" y="0"/>
            <a:ext cx="0" cy="6857829"/>
          </a:xfrm>
          <a:prstGeom prst="line">
            <a:avLst/>
          </a:prstGeom>
          <a:noFill/>
          <a:ln w="6350">
            <a:solidFill>
              <a:srgbClr val="070E15"/>
            </a:solidFill>
            <a:prstDash val="solid"/>
            <a:headEnd type="none"/>
            <a:tailEnd type="none"/>
          </a:ln>
        </p:spPr>
      </p:sp>
      <p:sp>
        <p:nvSpPr>
          <p:cNvPr id="27" name="Shape 25"/>
          <p:cNvSpPr/>
          <p:nvPr/>
        </p:nvSpPr>
        <p:spPr>
          <a:xfrm>
            <a:off x="7619810" y="0"/>
            <a:ext cx="0" cy="6857829"/>
          </a:xfrm>
          <a:prstGeom prst="line">
            <a:avLst/>
          </a:prstGeom>
          <a:noFill/>
          <a:ln w="6350">
            <a:solidFill>
              <a:srgbClr val="070E15"/>
            </a:solidFill>
            <a:prstDash val="solid"/>
            <a:headEnd type="none"/>
            <a:tailEnd type="none"/>
          </a:ln>
        </p:spPr>
      </p:sp>
      <p:sp>
        <p:nvSpPr>
          <p:cNvPr id="28" name="Shape 26"/>
          <p:cNvSpPr/>
          <p:nvPr/>
        </p:nvSpPr>
        <p:spPr>
          <a:xfrm>
            <a:off x="7924602" y="0"/>
            <a:ext cx="0" cy="6857829"/>
          </a:xfrm>
          <a:prstGeom prst="line">
            <a:avLst/>
          </a:prstGeom>
          <a:noFill/>
          <a:ln w="6350">
            <a:solidFill>
              <a:srgbClr val="070E15"/>
            </a:solidFill>
            <a:prstDash val="solid"/>
            <a:headEnd type="none"/>
            <a:tailEnd type="none"/>
          </a:ln>
        </p:spPr>
      </p:sp>
      <p:sp>
        <p:nvSpPr>
          <p:cNvPr id="29" name="Shape 27"/>
          <p:cNvSpPr/>
          <p:nvPr/>
        </p:nvSpPr>
        <p:spPr>
          <a:xfrm>
            <a:off x="8229394" y="0"/>
            <a:ext cx="0" cy="6857829"/>
          </a:xfrm>
          <a:prstGeom prst="line">
            <a:avLst/>
          </a:prstGeom>
          <a:noFill/>
          <a:ln w="6350">
            <a:solidFill>
              <a:srgbClr val="070E15"/>
            </a:solidFill>
            <a:prstDash val="solid"/>
            <a:headEnd type="none"/>
            <a:tailEnd type="none"/>
          </a:ln>
        </p:spPr>
      </p:sp>
      <p:sp>
        <p:nvSpPr>
          <p:cNvPr id="30" name="Shape 28"/>
          <p:cNvSpPr/>
          <p:nvPr/>
        </p:nvSpPr>
        <p:spPr>
          <a:xfrm>
            <a:off x="8534187" y="0"/>
            <a:ext cx="0" cy="6857829"/>
          </a:xfrm>
          <a:prstGeom prst="line">
            <a:avLst/>
          </a:prstGeom>
          <a:noFill/>
          <a:ln w="6350">
            <a:solidFill>
              <a:srgbClr val="070E15"/>
            </a:solidFill>
            <a:prstDash val="solid"/>
            <a:headEnd type="none"/>
            <a:tailEnd type="none"/>
          </a:ln>
        </p:spPr>
      </p:sp>
      <p:sp>
        <p:nvSpPr>
          <p:cNvPr id="31" name="Shape 29"/>
          <p:cNvSpPr/>
          <p:nvPr/>
        </p:nvSpPr>
        <p:spPr>
          <a:xfrm>
            <a:off x="8838979" y="0"/>
            <a:ext cx="0" cy="6857829"/>
          </a:xfrm>
          <a:prstGeom prst="line">
            <a:avLst/>
          </a:prstGeom>
          <a:noFill/>
          <a:ln w="6350">
            <a:solidFill>
              <a:srgbClr val="070E15"/>
            </a:solidFill>
            <a:prstDash val="solid"/>
            <a:headEnd type="none"/>
            <a:tailEnd type="none"/>
          </a:ln>
        </p:spPr>
      </p:sp>
      <p:sp>
        <p:nvSpPr>
          <p:cNvPr id="32" name="Shape 30"/>
          <p:cNvSpPr/>
          <p:nvPr/>
        </p:nvSpPr>
        <p:spPr>
          <a:xfrm>
            <a:off x="9143771" y="0"/>
            <a:ext cx="0" cy="6857829"/>
          </a:xfrm>
          <a:prstGeom prst="line">
            <a:avLst/>
          </a:prstGeom>
          <a:noFill/>
          <a:ln w="6350">
            <a:solidFill>
              <a:srgbClr val="070E15"/>
            </a:solidFill>
            <a:prstDash val="solid"/>
            <a:headEnd type="none"/>
            <a:tailEnd type="none"/>
          </a:ln>
        </p:spPr>
      </p:sp>
      <p:sp>
        <p:nvSpPr>
          <p:cNvPr id="33" name="Shape 31"/>
          <p:cNvSpPr/>
          <p:nvPr/>
        </p:nvSpPr>
        <p:spPr>
          <a:xfrm>
            <a:off x="9448564" y="0"/>
            <a:ext cx="0" cy="6857829"/>
          </a:xfrm>
          <a:prstGeom prst="line">
            <a:avLst/>
          </a:prstGeom>
          <a:noFill/>
          <a:ln w="6350">
            <a:solidFill>
              <a:srgbClr val="070E15"/>
            </a:solidFill>
            <a:prstDash val="solid"/>
            <a:headEnd type="none"/>
            <a:tailEnd type="none"/>
          </a:ln>
        </p:spPr>
      </p:sp>
      <p:sp>
        <p:nvSpPr>
          <p:cNvPr id="34" name="Shape 32"/>
          <p:cNvSpPr/>
          <p:nvPr/>
        </p:nvSpPr>
        <p:spPr>
          <a:xfrm>
            <a:off x="9753356" y="0"/>
            <a:ext cx="0" cy="6857829"/>
          </a:xfrm>
          <a:prstGeom prst="line">
            <a:avLst/>
          </a:prstGeom>
          <a:noFill/>
          <a:ln w="6350">
            <a:solidFill>
              <a:srgbClr val="070E15"/>
            </a:solidFill>
            <a:prstDash val="solid"/>
            <a:headEnd type="none"/>
            <a:tailEnd type="none"/>
          </a:ln>
        </p:spPr>
      </p:sp>
      <p:sp>
        <p:nvSpPr>
          <p:cNvPr id="35" name="Shape 33"/>
          <p:cNvSpPr/>
          <p:nvPr/>
        </p:nvSpPr>
        <p:spPr>
          <a:xfrm>
            <a:off x="10058149" y="0"/>
            <a:ext cx="0" cy="6857829"/>
          </a:xfrm>
          <a:prstGeom prst="line">
            <a:avLst/>
          </a:prstGeom>
          <a:noFill/>
          <a:ln w="6350">
            <a:solidFill>
              <a:srgbClr val="070E15"/>
            </a:solidFill>
            <a:prstDash val="solid"/>
            <a:headEnd type="none"/>
            <a:tailEnd type="none"/>
          </a:ln>
        </p:spPr>
      </p:sp>
      <p:sp>
        <p:nvSpPr>
          <p:cNvPr id="36" name="Shape 34"/>
          <p:cNvSpPr/>
          <p:nvPr/>
        </p:nvSpPr>
        <p:spPr>
          <a:xfrm>
            <a:off x="10362941" y="0"/>
            <a:ext cx="0" cy="6857829"/>
          </a:xfrm>
          <a:prstGeom prst="line">
            <a:avLst/>
          </a:prstGeom>
          <a:noFill/>
          <a:ln w="6350">
            <a:solidFill>
              <a:srgbClr val="070E15"/>
            </a:solidFill>
            <a:prstDash val="solid"/>
            <a:headEnd type="none"/>
            <a:tailEnd type="none"/>
          </a:ln>
        </p:spPr>
      </p:sp>
      <p:sp>
        <p:nvSpPr>
          <p:cNvPr id="37" name="Shape 35"/>
          <p:cNvSpPr/>
          <p:nvPr/>
        </p:nvSpPr>
        <p:spPr>
          <a:xfrm>
            <a:off x="10667733" y="0"/>
            <a:ext cx="0" cy="6857829"/>
          </a:xfrm>
          <a:prstGeom prst="line">
            <a:avLst/>
          </a:prstGeom>
          <a:noFill/>
          <a:ln w="6350">
            <a:solidFill>
              <a:srgbClr val="070E15"/>
            </a:solidFill>
            <a:prstDash val="solid"/>
            <a:headEnd type="none"/>
            <a:tailEnd type="none"/>
          </a:ln>
        </p:spPr>
      </p:sp>
      <p:sp>
        <p:nvSpPr>
          <p:cNvPr id="38" name="Shape 36"/>
          <p:cNvSpPr/>
          <p:nvPr/>
        </p:nvSpPr>
        <p:spPr>
          <a:xfrm>
            <a:off x="10972526" y="0"/>
            <a:ext cx="0" cy="6857829"/>
          </a:xfrm>
          <a:prstGeom prst="line">
            <a:avLst/>
          </a:prstGeom>
          <a:noFill/>
          <a:ln w="6350">
            <a:solidFill>
              <a:srgbClr val="070E15"/>
            </a:solidFill>
            <a:prstDash val="solid"/>
            <a:headEnd type="none"/>
            <a:tailEnd type="none"/>
          </a:ln>
        </p:spPr>
      </p:sp>
      <p:sp>
        <p:nvSpPr>
          <p:cNvPr id="39" name="Shape 37"/>
          <p:cNvSpPr/>
          <p:nvPr/>
        </p:nvSpPr>
        <p:spPr>
          <a:xfrm>
            <a:off x="11277318" y="0"/>
            <a:ext cx="0" cy="6857829"/>
          </a:xfrm>
          <a:prstGeom prst="line">
            <a:avLst/>
          </a:prstGeom>
          <a:noFill/>
          <a:ln w="6350">
            <a:solidFill>
              <a:srgbClr val="070E15"/>
            </a:solidFill>
            <a:prstDash val="solid"/>
            <a:headEnd type="none"/>
            <a:tailEnd type="none"/>
          </a:ln>
        </p:spPr>
      </p:sp>
      <p:sp>
        <p:nvSpPr>
          <p:cNvPr id="40" name="Shape 38"/>
          <p:cNvSpPr/>
          <p:nvPr/>
        </p:nvSpPr>
        <p:spPr>
          <a:xfrm>
            <a:off x="11582110" y="0"/>
            <a:ext cx="0" cy="6857829"/>
          </a:xfrm>
          <a:prstGeom prst="line">
            <a:avLst/>
          </a:prstGeom>
          <a:noFill/>
          <a:ln w="6350">
            <a:solidFill>
              <a:srgbClr val="070E15"/>
            </a:solidFill>
            <a:prstDash val="solid"/>
            <a:headEnd type="none"/>
            <a:tailEnd type="none"/>
          </a:ln>
        </p:spPr>
      </p:sp>
      <p:sp>
        <p:nvSpPr>
          <p:cNvPr id="41" name="Shape 39"/>
          <p:cNvSpPr/>
          <p:nvPr/>
        </p:nvSpPr>
        <p:spPr>
          <a:xfrm>
            <a:off x="11886903" y="0"/>
            <a:ext cx="0" cy="6857829"/>
          </a:xfrm>
          <a:prstGeom prst="line">
            <a:avLst/>
          </a:prstGeom>
          <a:noFill/>
          <a:ln w="6350">
            <a:solidFill>
              <a:srgbClr val="070E15"/>
            </a:solidFill>
            <a:prstDash val="solid"/>
            <a:headEnd type="none"/>
            <a:tailEnd type="none"/>
          </a:ln>
        </p:spPr>
      </p:sp>
      <p:sp>
        <p:nvSpPr>
          <p:cNvPr id="42" name="Shape 40"/>
          <p:cNvSpPr/>
          <p:nvPr/>
        </p:nvSpPr>
        <p:spPr>
          <a:xfrm>
            <a:off x="0" y="0"/>
            <a:ext cx="12191695" cy="0"/>
          </a:xfrm>
          <a:prstGeom prst="line">
            <a:avLst/>
          </a:prstGeom>
          <a:noFill/>
          <a:ln w="6350">
            <a:solidFill>
              <a:srgbClr val="070E15"/>
            </a:solidFill>
            <a:prstDash val="solid"/>
            <a:headEnd type="none"/>
            <a:tailEnd type="none"/>
          </a:ln>
        </p:spPr>
      </p:sp>
      <p:sp>
        <p:nvSpPr>
          <p:cNvPr id="43" name="Shape 41"/>
          <p:cNvSpPr/>
          <p:nvPr/>
        </p:nvSpPr>
        <p:spPr>
          <a:xfrm>
            <a:off x="0" y="304792"/>
            <a:ext cx="12191695" cy="0"/>
          </a:xfrm>
          <a:prstGeom prst="line">
            <a:avLst/>
          </a:prstGeom>
          <a:noFill/>
          <a:ln w="6350">
            <a:solidFill>
              <a:srgbClr val="070E15"/>
            </a:solidFill>
            <a:prstDash val="solid"/>
            <a:headEnd type="none"/>
            <a:tailEnd type="none"/>
          </a:ln>
        </p:spPr>
      </p:sp>
      <p:sp>
        <p:nvSpPr>
          <p:cNvPr id="44" name="Shape 42"/>
          <p:cNvSpPr/>
          <p:nvPr/>
        </p:nvSpPr>
        <p:spPr>
          <a:xfrm>
            <a:off x="0" y="609585"/>
            <a:ext cx="12191695" cy="0"/>
          </a:xfrm>
          <a:prstGeom prst="line">
            <a:avLst/>
          </a:prstGeom>
          <a:noFill/>
          <a:ln w="6350">
            <a:solidFill>
              <a:srgbClr val="070E15"/>
            </a:solidFill>
            <a:prstDash val="solid"/>
            <a:headEnd type="none"/>
            <a:tailEnd type="none"/>
          </a:ln>
        </p:spPr>
      </p:sp>
      <p:sp>
        <p:nvSpPr>
          <p:cNvPr id="45" name="Shape 43"/>
          <p:cNvSpPr/>
          <p:nvPr/>
        </p:nvSpPr>
        <p:spPr>
          <a:xfrm>
            <a:off x="0" y="914377"/>
            <a:ext cx="12191695" cy="0"/>
          </a:xfrm>
          <a:prstGeom prst="line">
            <a:avLst/>
          </a:prstGeom>
          <a:noFill/>
          <a:ln w="6350">
            <a:solidFill>
              <a:srgbClr val="070E15"/>
            </a:solidFill>
            <a:prstDash val="solid"/>
            <a:headEnd type="none"/>
            <a:tailEnd type="none"/>
          </a:ln>
        </p:spPr>
      </p:sp>
      <p:sp>
        <p:nvSpPr>
          <p:cNvPr id="46" name="Shape 44"/>
          <p:cNvSpPr/>
          <p:nvPr/>
        </p:nvSpPr>
        <p:spPr>
          <a:xfrm>
            <a:off x="0" y="1219170"/>
            <a:ext cx="12191695" cy="0"/>
          </a:xfrm>
          <a:prstGeom prst="line">
            <a:avLst/>
          </a:prstGeom>
          <a:noFill/>
          <a:ln w="6350">
            <a:solidFill>
              <a:srgbClr val="070E15"/>
            </a:solidFill>
            <a:prstDash val="solid"/>
            <a:headEnd type="none"/>
            <a:tailEnd type="none"/>
          </a:ln>
        </p:spPr>
      </p:sp>
      <p:sp>
        <p:nvSpPr>
          <p:cNvPr id="47" name="Shape 45"/>
          <p:cNvSpPr/>
          <p:nvPr/>
        </p:nvSpPr>
        <p:spPr>
          <a:xfrm>
            <a:off x="0" y="1523962"/>
            <a:ext cx="12191695" cy="0"/>
          </a:xfrm>
          <a:prstGeom prst="line">
            <a:avLst/>
          </a:prstGeom>
          <a:noFill/>
          <a:ln w="6350">
            <a:solidFill>
              <a:srgbClr val="070E15"/>
            </a:solidFill>
            <a:prstDash val="solid"/>
            <a:headEnd type="none"/>
            <a:tailEnd type="none"/>
          </a:ln>
        </p:spPr>
      </p:sp>
      <p:sp>
        <p:nvSpPr>
          <p:cNvPr id="48" name="Shape 46"/>
          <p:cNvSpPr/>
          <p:nvPr/>
        </p:nvSpPr>
        <p:spPr>
          <a:xfrm>
            <a:off x="0" y="1828754"/>
            <a:ext cx="12191695" cy="0"/>
          </a:xfrm>
          <a:prstGeom prst="line">
            <a:avLst/>
          </a:prstGeom>
          <a:noFill/>
          <a:ln w="6350">
            <a:solidFill>
              <a:srgbClr val="070E15"/>
            </a:solidFill>
            <a:prstDash val="solid"/>
            <a:headEnd type="none"/>
            <a:tailEnd type="none"/>
          </a:ln>
        </p:spPr>
      </p:sp>
      <p:sp>
        <p:nvSpPr>
          <p:cNvPr id="49" name="Shape 47"/>
          <p:cNvSpPr/>
          <p:nvPr/>
        </p:nvSpPr>
        <p:spPr>
          <a:xfrm>
            <a:off x="0" y="2133547"/>
            <a:ext cx="12191695" cy="0"/>
          </a:xfrm>
          <a:prstGeom prst="line">
            <a:avLst/>
          </a:prstGeom>
          <a:noFill/>
          <a:ln w="6350">
            <a:solidFill>
              <a:srgbClr val="070E15"/>
            </a:solidFill>
            <a:prstDash val="solid"/>
            <a:headEnd type="none"/>
            <a:tailEnd type="none"/>
          </a:ln>
        </p:spPr>
      </p:sp>
      <p:sp>
        <p:nvSpPr>
          <p:cNvPr id="50" name="Shape 48"/>
          <p:cNvSpPr/>
          <p:nvPr/>
        </p:nvSpPr>
        <p:spPr>
          <a:xfrm>
            <a:off x="0" y="2438339"/>
            <a:ext cx="12191695" cy="0"/>
          </a:xfrm>
          <a:prstGeom prst="line">
            <a:avLst/>
          </a:prstGeom>
          <a:noFill/>
          <a:ln w="6350">
            <a:solidFill>
              <a:srgbClr val="070E15"/>
            </a:solidFill>
            <a:prstDash val="solid"/>
            <a:headEnd type="none"/>
            <a:tailEnd type="none"/>
          </a:ln>
        </p:spPr>
      </p:sp>
      <p:sp>
        <p:nvSpPr>
          <p:cNvPr id="51" name="Shape 49"/>
          <p:cNvSpPr/>
          <p:nvPr/>
        </p:nvSpPr>
        <p:spPr>
          <a:xfrm>
            <a:off x="0" y="2743131"/>
            <a:ext cx="12191695" cy="0"/>
          </a:xfrm>
          <a:prstGeom prst="line">
            <a:avLst/>
          </a:prstGeom>
          <a:noFill/>
          <a:ln w="6350">
            <a:solidFill>
              <a:srgbClr val="070E15"/>
            </a:solidFill>
            <a:prstDash val="solid"/>
            <a:headEnd type="none"/>
            <a:tailEnd type="none"/>
          </a:ln>
        </p:spPr>
      </p:sp>
      <p:sp>
        <p:nvSpPr>
          <p:cNvPr id="52" name="Shape 50"/>
          <p:cNvSpPr/>
          <p:nvPr/>
        </p:nvSpPr>
        <p:spPr>
          <a:xfrm>
            <a:off x="0" y="3047924"/>
            <a:ext cx="12191695" cy="0"/>
          </a:xfrm>
          <a:prstGeom prst="line">
            <a:avLst/>
          </a:prstGeom>
          <a:noFill/>
          <a:ln w="6350">
            <a:solidFill>
              <a:srgbClr val="070E15"/>
            </a:solidFill>
            <a:prstDash val="solid"/>
            <a:headEnd type="none"/>
            <a:tailEnd type="none"/>
          </a:ln>
        </p:spPr>
      </p:sp>
      <p:sp>
        <p:nvSpPr>
          <p:cNvPr id="53" name="Shape 51"/>
          <p:cNvSpPr/>
          <p:nvPr/>
        </p:nvSpPr>
        <p:spPr>
          <a:xfrm>
            <a:off x="0" y="3352716"/>
            <a:ext cx="12191695" cy="0"/>
          </a:xfrm>
          <a:prstGeom prst="line">
            <a:avLst/>
          </a:prstGeom>
          <a:noFill/>
          <a:ln w="6350">
            <a:solidFill>
              <a:srgbClr val="070E15"/>
            </a:solidFill>
            <a:prstDash val="solid"/>
            <a:headEnd type="none"/>
            <a:tailEnd type="none"/>
          </a:ln>
        </p:spPr>
      </p:sp>
      <p:sp>
        <p:nvSpPr>
          <p:cNvPr id="54" name="Shape 52"/>
          <p:cNvSpPr/>
          <p:nvPr/>
        </p:nvSpPr>
        <p:spPr>
          <a:xfrm>
            <a:off x="0" y="3657509"/>
            <a:ext cx="12191695" cy="0"/>
          </a:xfrm>
          <a:prstGeom prst="line">
            <a:avLst/>
          </a:prstGeom>
          <a:noFill/>
          <a:ln w="6350">
            <a:solidFill>
              <a:srgbClr val="070E15"/>
            </a:solidFill>
            <a:prstDash val="solid"/>
            <a:headEnd type="none"/>
            <a:tailEnd type="none"/>
          </a:ln>
        </p:spPr>
      </p:sp>
      <p:sp>
        <p:nvSpPr>
          <p:cNvPr id="55" name="Shape 53"/>
          <p:cNvSpPr/>
          <p:nvPr/>
        </p:nvSpPr>
        <p:spPr>
          <a:xfrm>
            <a:off x="0" y="3962301"/>
            <a:ext cx="12191695" cy="0"/>
          </a:xfrm>
          <a:prstGeom prst="line">
            <a:avLst/>
          </a:prstGeom>
          <a:noFill/>
          <a:ln w="6350">
            <a:solidFill>
              <a:srgbClr val="070E15"/>
            </a:solidFill>
            <a:prstDash val="solid"/>
            <a:headEnd type="none"/>
            <a:tailEnd type="none"/>
          </a:ln>
        </p:spPr>
      </p:sp>
      <p:sp>
        <p:nvSpPr>
          <p:cNvPr id="56" name="Shape 54"/>
          <p:cNvSpPr/>
          <p:nvPr/>
        </p:nvSpPr>
        <p:spPr>
          <a:xfrm>
            <a:off x="0" y="4267093"/>
            <a:ext cx="12191695" cy="0"/>
          </a:xfrm>
          <a:prstGeom prst="line">
            <a:avLst/>
          </a:prstGeom>
          <a:noFill/>
          <a:ln w="6350">
            <a:solidFill>
              <a:srgbClr val="070E15"/>
            </a:solidFill>
            <a:prstDash val="solid"/>
            <a:headEnd type="none"/>
            <a:tailEnd type="none"/>
          </a:ln>
        </p:spPr>
      </p:sp>
      <p:sp>
        <p:nvSpPr>
          <p:cNvPr id="57" name="Shape 55"/>
          <p:cNvSpPr/>
          <p:nvPr/>
        </p:nvSpPr>
        <p:spPr>
          <a:xfrm>
            <a:off x="0" y="4571886"/>
            <a:ext cx="12191695" cy="0"/>
          </a:xfrm>
          <a:prstGeom prst="line">
            <a:avLst/>
          </a:prstGeom>
          <a:noFill/>
          <a:ln w="6350">
            <a:solidFill>
              <a:srgbClr val="070E15"/>
            </a:solidFill>
            <a:prstDash val="solid"/>
            <a:headEnd type="none"/>
            <a:tailEnd type="none"/>
          </a:ln>
        </p:spPr>
      </p:sp>
      <p:sp>
        <p:nvSpPr>
          <p:cNvPr id="58" name="Shape 56"/>
          <p:cNvSpPr/>
          <p:nvPr/>
        </p:nvSpPr>
        <p:spPr>
          <a:xfrm>
            <a:off x="0" y="4876678"/>
            <a:ext cx="12191695" cy="0"/>
          </a:xfrm>
          <a:prstGeom prst="line">
            <a:avLst/>
          </a:prstGeom>
          <a:noFill/>
          <a:ln w="6350">
            <a:solidFill>
              <a:srgbClr val="070E15"/>
            </a:solidFill>
            <a:prstDash val="solid"/>
            <a:headEnd type="none"/>
            <a:tailEnd type="none"/>
          </a:ln>
        </p:spPr>
      </p:sp>
      <p:sp>
        <p:nvSpPr>
          <p:cNvPr id="59" name="Shape 57"/>
          <p:cNvSpPr/>
          <p:nvPr/>
        </p:nvSpPr>
        <p:spPr>
          <a:xfrm>
            <a:off x="0" y="5181470"/>
            <a:ext cx="12191695" cy="0"/>
          </a:xfrm>
          <a:prstGeom prst="line">
            <a:avLst/>
          </a:prstGeom>
          <a:noFill/>
          <a:ln w="6350">
            <a:solidFill>
              <a:srgbClr val="070E15"/>
            </a:solidFill>
            <a:prstDash val="solid"/>
            <a:headEnd type="none"/>
            <a:tailEnd type="none"/>
          </a:ln>
        </p:spPr>
      </p:sp>
      <p:sp>
        <p:nvSpPr>
          <p:cNvPr id="60" name="Shape 58"/>
          <p:cNvSpPr/>
          <p:nvPr/>
        </p:nvSpPr>
        <p:spPr>
          <a:xfrm>
            <a:off x="0" y="5486263"/>
            <a:ext cx="12191695" cy="0"/>
          </a:xfrm>
          <a:prstGeom prst="line">
            <a:avLst/>
          </a:prstGeom>
          <a:noFill/>
          <a:ln w="6350">
            <a:solidFill>
              <a:srgbClr val="070E15"/>
            </a:solidFill>
            <a:prstDash val="solid"/>
            <a:headEnd type="none"/>
            <a:tailEnd type="none"/>
          </a:ln>
        </p:spPr>
      </p:sp>
      <p:sp>
        <p:nvSpPr>
          <p:cNvPr id="61" name="Shape 59"/>
          <p:cNvSpPr/>
          <p:nvPr/>
        </p:nvSpPr>
        <p:spPr>
          <a:xfrm>
            <a:off x="0" y="5791055"/>
            <a:ext cx="12191695" cy="0"/>
          </a:xfrm>
          <a:prstGeom prst="line">
            <a:avLst/>
          </a:prstGeom>
          <a:noFill/>
          <a:ln w="6350">
            <a:solidFill>
              <a:srgbClr val="070E15"/>
            </a:solidFill>
            <a:prstDash val="solid"/>
            <a:headEnd type="none"/>
            <a:tailEnd type="none"/>
          </a:ln>
        </p:spPr>
      </p:sp>
      <p:sp>
        <p:nvSpPr>
          <p:cNvPr id="62" name="Shape 60"/>
          <p:cNvSpPr/>
          <p:nvPr/>
        </p:nvSpPr>
        <p:spPr>
          <a:xfrm>
            <a:off x="0" y="6095848"/>
            <a:ext cx="12191695" cy="0"/>
          </a:xfrm>
          <a:prstGeom prst="line">
            <a:avLst/>
          </a:prstGeom>
          <a:noFill/>
          <a:ln w="6350">
            <a:solidFill>
              <a:srgbClr val="070E15"/>
            </a:solidFill>
            <a:prstDash val="solid"/>
            <a:headEnd type="none"/>
            <a:tailEnd type="none"/>
          </a:ln>
        </p:spPr>
      </p:sp>
      <p:sp>
        <p:nvSpPr>
          <p:cNvPr id="63" name="Shape 61"/>
          <p:cNvSpPr/>
          <p:nvPr/>
        </p:nvSpPr>
        <p:spPr>
          <a:xfrm>
            <a:off x="0" y="6400640"/>
            <a:ext cx="12191695" cy="0"/>
          </a:xfrm>
          <a:prstGeom prst="line">
            <a:avLst/>
          </a:prstGeom>
          <a:noFill/>
          <a:ln w="6350">
            <a:solidFill>
              <a:srgbClr val="070E15"/>
            </a:solidFill>
            <a:prstDash val="solid"/>
            <a:headEnd type="none"/>
            <a:tailEnd type="none"/>
          </a:ln>
        </p:spPr>
      </p:sp>
      <p:sp>
        <p:nvSpPr>
          <p:cNvPr id="64" name="Shape 62"/>
          <p:cNvSpPr/>
          <p:nvPr/>
        </p:nvSpPr>
        <p:spPr>
          <a:xfrm>
            <a:off x="0" y="6705432"/>
            <a:ext cx="12191695" cy="0"/>
          </a:xfrm>
          <a:prstGeom prst="line">
            <a:avLst/>
          </a:prstGeom>
          <a:noFill/>
          <a:ln w="6350">
            <a:solidFill>
              <a:srgbClr val="070E15"/>
            </a:solidFill>
            <a:prstDash val="solid"/>
            <a:headEnd type="none"/>
            <a:tailEnd type="none"/>
          </a:ln>
        </p:spPr>
      </p:sp>
      <p:sp>
        <p:nvSpPr>
          <p:cNvPr id="65" name="Shape 63"/>
          <p:cNvSpPr/>
          <p:nvPr/>
        </p:nvSpPr>
        <p:spPr>
          <a:xfrm>
            <a:off x="8496088" y="3530512"/>
            <a:ext cx="215895" cy="596885"/>
          </a:xfrm>
          <a:prstGeom prst="roundRect">
            <a:avLst>
              <a:gd name="adj" fmla="val 29412"/>
            </a:avLst>
          </a:prstGeom>
          <a:solidFill>
            <a:srgbClr val="39FF9C"/>
          </a:solidFill>
          <a:ln/>
        </p:spPr>
      </p:sp>
      <p:sp>
        <p:nvSpPr>
          <p:cNvPr id="66" name="Shape 64"/>
          <p:cNvSpPr/>
          <p:nvPr/>
        </p:nvSpPr>
        <p:spPr>
          <a:xfrm>
            <a:off x="9321567" y="3530512"/>
            <a:ext cx="215895" cy="596885"/>
          </a:xfrm>
          <a:prstGeom prst="roundRect">
            <a:avLst>
              <a:gd name="adj" fmla="val 29412"/>
            </a:avLst>
          </a:prstGeom>
          <a:solidFill>
            <a:srgbClr val="39FF9C"/>
          </a:solidFill>
          <a:ln/>
        </p:spPr>
      </p:sp>
      <p:sp>
        <p:nvSpPr>
          <p:cNvPr id="67" name="Shape 65"/>
          <p:cNvSpPr/>
          <p:nvPr/>
        </p:nvSpPr>
        <p:spPr>
          <a:xfrm>
            <a:off x="8711982" y="2476438"/>
            <a:ext cx="609585" cy="1587460"/>
          </a:xfrm>
          <a:prstGeom prst="roundRect">
            <a:avLst>
              <a:gd name="adj" fmla="val 18750"/>
            </a:avLst>
          </a:prstGeom>
          <a:solidFill>
            <a:srgbClr val="39FF9C"/>
          </a:solidFill>
          <a:ln/>
        </p:spPr>
      </p:sp>
      <p:sp>
        <p:nvSpPr>
          <p:cNvPr id="68" name="Shape 66"/>
          <p:cNvSpPr/>
          <p:nvPr/>
        </p:nvSpPr>
        <p:spPr>
          <a:xfrm>
            <a:off x="8864378" y="2806630"/>
            <a:ext cx="304792" cy="304792"/>
          </a:xfrm>
          <a:prstGeom prst="ellipse">
            <a:avLst/>
          </a:prstGeom>
          <a:solidFill>
            <a:srgbClr val="05080D"/>
          </a:solidFill>
          <a:ln w="19050">
            <a:solidFill>
              <a:srgbClr val="39FF9C"/>
            </a:solidFill>
            <a:prstDash val="solid"/>
          </a:ln>
        </p:spPr>
      </p:sp>
      <p:sp>
        <p:nvSpPr>
          <p:cNvPr id="69" name="Shape 67"/>
          <p:cNvSpPr/>
          <p:nvPr/>
        </p:nvSpPr>
        <p:spPr>
          <a:xfrm>
            <a:off x="8864378" y="4241694"/>
            <a:ext cx="0" cy="279393"/>
          </a:xfrm>
          <a:prstGeom prst="line">
            <a:avLst/>
          </a:prstGeom>
          <a:noFill/>
          <a:ln w="19050">
            <a:solidFill>
              <a:srgbClr val="2EC8FF"/>
            </a:solidFill>
            <a:prstDash val="solid"/>
            <a:headEnd type="none"/>
            <a:tailEnd type="none"/>
          </a:ln>
        </p:spPr>
      </p:sp>
      <p:sp>
        <p:nvSpPr>
          <p:cNvPr id="70" name="Shape 68"/>
          <p:cNvSpPr/>
          <p:nvPr/>
        </p:nvSpPr>
        <p:spPr>
          <a:xfrm>
            <a:off x="9016775" y="4241694"/>
            <a:ext cx="0" cy="431789"/>
          </a:xfrm>
          <a:prstGeom prst="line">
            <a:avLst/>
          </a:prstGeom>
          <a:noFill/>
          <a:ln w="19050">
            <a:solidFill>
              <a:srgbClr val="2EC8FF"/>
            </a:solidFill>
            <a:prstDash val="solid"/>
            <a:headEnd type="none"/>
            <a:tailEnd type="none"/>
          </a:ln>
        </p:spPr>
      </p:sp>
      <p:sp>
        <p:nvSpPr>
          <p:cNvPr id="71" name="Shape 69"/>
          <p:cNvSpPr/>
          <p:nvPr/>
        </p:nvSpPr>
        <p:spPr>
          <a:xfrm>
            <a:off x="9169171" y="4241694"/>
            <a:ext cx="0" cy="279393"/>
          </a:xfrm>
          <a:prstGeom prst="line">
            <a:avLst/>
          </a:prstGeom>
          <a:noFill/>
          <a:ln w="19050">
            <a:solidFill>
              <a:srgbClr val="2EC8FF"/>
            </a:solidFill>
            <a:prstDash val="solid"/>
            <a:headEnd type="none"/>
            <a:tailEnd type="none"/>
          </a:ln>
        </p:spPr>
      </p:sp>
      <p:sp>
        <p:nvSpPr>
          <p:cNvPr id="72" name="Text 70"/>
          <p:cNvSpPr/>
          <p:nvPr/>
        </p:nvSpPr>
        <p:spPr>
          <a:xfrm>
            <a:off x="609585" y="609585"/>
            <a:ext cx="7619810" cy="533387"/>
          </a:xfrm>
          <a:prstGeom prst="rect">
            <a:avLst/>
          </a:prstGeom>
          <a:noFill/>
          <a:ln/>
        </p:spPr>
        <p:txBody>
          <a:bodyPr wrap="square" lIns="0" tIns="0" rIns="0" bIns="0" rtlCol="0" anchor="t">
            <a:normAutofit/>
          </a:bodyPr>
          <a:lstStyle/>
          <a:p>
            <a:pPr algn="l" indent="0" marL="0">
              <a:buNone/>
            </a:pPr>
            <a:r>
              <a:rPr lang="en-US" sz="3800" b="1" dirty="0">
                <a:solidFill>
                  <a:srgbClr val="EAFFF5"/>
                </a:solidFill>
                <a:latin typeface="Inter" pitchFamily="34" charset="0"/>
                <a:ea typeface="Inter" pitchFamily="34" charset="-122"/>
                <a:cs typeface="Inter" pitchFamily="34" charset="-120"/>
              </a:rPr>
              <a:t>ROCKET EXPLAINER</a:t>
            </a:r>
            <a:endParaRPr lang="en-US" sz="3800" dirty="0"/>
          </a:p>
        </p:txBody>
      </p:sp>
      <p:sp>
        <p:nvSpPr>
          <p:cNvPr id="73" name="Shape 71"/>
          <p:cNvSpPr/>
          <p:nvPr/>
        </p:nvSpPr>
        <p:spPr>
          <a:xfrm>
            <a:off x="1041374" y="1562061"/>
            <a:ext cx="965176" cy="38099"/>
          </a:xfrm>
          <a:prstGeom prst="rect">
            <a:avLst/>
          </a:prstGeom>
          <a:solidFill>
            <a:srgbClr val="E8FF3A"/>
          </a:solidFill>
          <a:ln/>
        </p:spPr>
      </p:sp>
      <p:sp>
        <p:nvSpPr>
          <p:cNvPr id="74" name="Text 72"/>
          <p:cNvSpPr/>
          <p:nvPr/>
        </p:nvSpPr>
        <p:spPr>
          <a:xfrm>
            <a:off x="609585" y="1295368"/>
            <a:ext cx="6349841" cy="279393"/>
          </a:xfrm>
          <a:prstGeom prst="rect">
            <a:avLst/>
          </a:prstGeom>
          <a:noFill/>
          <a:ln/>
        </p:spPr>
        <p:txBody>
          <a:bodyPr wrap="square" lIns="0" tIns="0" rIns="0" bIns="0" rtlCol="0" anchor="t">
            <a:normAutofit/>
          </a:bodyPr>
          <a:lstStyle/>
          <a:p>
            <a:pPr algn="l" indent="0" marL="0">
              <a:buNone/>
            </a:pPr>
            <a:r>
              <a:rPr lang="en-US" sz="1700" dirty="0">
                <a:solidFill>
                  <a:srgbClr val="EAFFF5"/>
                </a:solidFill>
                <a:latin typeface="Inter" pitchFamily="34" charset="0"/>
                <a:ea typeface="Inter" pitchFamily="34" charset="-122"/>
                <a:cs typeface="Inter" pitchFamily="34" charset="-120"/>
              </a:rPr>
              <a:t>The style loop is the product.</a:t>
            </a:r>
            <a:endParaRPr lang="en-US" sz="1700" dirty="0"/>
          </a:p>
        </p:txBody>
      </p:sp>
      <p:sp>
        <p:nvSpPr>
          <p:cNvPr id="75" name="Text 73"/>
          <p:cNvSpPr/>
          <p:nvPr/>
        </p:nvSpPr>
        <p:spPr>
          <a:xfrm>
            <a:off x="609585" y="6070448"/>
            <a:ext cx="6349841" cy="177796"/>
          </a:xfrm>
          <a:prstGeom prst="rect">
            <a:avLst/>
          </a:prstGeom>
          <a:noFill/>
          <a:ln/>
        </p:spPr>
        <p:txBody>
          <a:bodyPr wrap="square" lIns="0" tIns="0" rIns="0" bIns="0" rtlCol="0" anchor="t">
            <a:normAutofit/>
          </a:bodyPr>
          <a:lstStyle/>
          <a:p>
            <a:pPr algn="l" indent="0" marL="0">
              <a:buNone/>
            </a:pPr>
            <a:r>
              <a:rPr lang="en-US" sz="1000" b="1" dirty="0">
                <a:solidFill>
                  <a:srgbClr val="7F9BB0"/>
                </a:solidFill>
                <a:latin typeface="JetBrains Mono" pitchFamily="34" charset="0"/>
                <a:ea typeface="JetBrains Mono" pitchFamily="34" charset="-122"/>
                <a:cs typeface="JetBrains Mono" pitchFamily="34" charset="-120"/>
              </a:rPr>
              <a:t>*Planned, not shipped. Decisions recorded 2026-10-01.</a:t>
            </a:r>
            <a:endParaRPr lang="en-US" sz="1000" dirty="0"/>
          </a:p>
        </p:txBody>
      </p:sp>
      <p:sp>
        <p:nvSpPr>
          <p:cNvPr id="76" name="Text 74"/>
          <p:cNvSpPr/>
          <p:nvPr/>
        </p:nvSpPr>
        <p:spPr>
          <a:xfrm>
            <a:off x="10312142" y="6070448"/>
            <a:ext cx="1269968" cy="177796"/>
          </a:xfrm>
          <a:prstGeom prst="rect">
            <a:avLst/>
          </a:prstGeom>
          <a:noFill/>
          <a:ln/>
        </p:spPr>
        <p:txBody>
          <a:bodyPr wrap="square" lIns="0" tIns="0" rIns="0" bIns="0" rtlCol="0" anchor="t">
            <a:normAutofit/>
          </a:bodyPr>
          <a:lstStyle/>
          <a:p>
            <a:pPr algn="r" indent="0" marL="0">
              <a:buNone/>
            </a:pPr>
            <a:r>
              <a:rPr lang="en-US" sz="1000" b="1" dirty="0">
                <a:solidFill>
                  <a:srgbClr val="7F9BB0"/>
                </a:solidFill>
                <a:latin typeface="JetBrains Mono" pitchFamily="34" charset="0"/>
                <a:ea typeface="JetBrains Mono" pitchFamily="34" charset="-122"/>
                <a:cs typeface="JetBrains Mono" pitchFamily="34" charset="-120"/>
              </a:rPr>
              <a:t>01 / 06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80D"/>
        </a:solidFill>
      </p:bgPr>
    </p:bg>
    <p:spTree>
      <p:nvGrpSpPr>
        <p:cNvPr id="1" name=""/>
        <p:cNvGrpSpPr/>
        <p:nvPr/>
      </p:nvGrpSpPr>
      <p:grpSpPr>
        <a:xfrm>
          <a:off x="0" y="0"/>
          <a:ext cx="0" cy="0"/>
          <a:chOff x="0" y="0"/>
          <a:chExt cx="0" cy="0"/>
        </a:xfrm>
      </p:grpSpPr>
      <p:sp>
        <p:nvSpPr>
          <p:cNvPr id="2" name="Text 0"/>
          <p:cNvSpPr/>
          <p:nvPr/>
        </p:nvSpPr>
        <p:spPr>
          <a:xfrm>
            <a:off x="609585" y="609585"/>
            <a:ext cx="8889778" cy="584185"/>
          </a:xfrm>
          <a:prstGeom prst="rect">
            <a:avLst/>
          </a:prstGeom>
          <a:noFill/>
          <a:ln/>
        </p:spPr>
        <p:txBody>
          <a:bodyPr wrap="square" lIns="0" tIns="0" rIns="0" bIns="0" rtlCol="0" anchor="t">
            <a:normAutofit/>
          </a:bodyPr>
          <a:lstStyle/>
          <a:p>
            <a:pPr algn="l" indent="0" marL="0">
              <a:buNone/>
            </a:pPr>
            <a:r>
              <a:rPr lang="en-US" sz="3800" b="1" dirty="0">
                <a:solidFill>
                  <a:srgbClr val="EAFFF5"/>
                </a:solidFill>
                <a:latin typeface="Inter" pitchFamily="34" charset="0"/>
                <a:ea typeface="Inter" pitchFamily="34" charset="-122"/>
                <a:cs typeface="Inter" pitchFamily="34" charset="-120"/>
              </a:rPr>
              <a:t>ONE COMMAND, FOUR OUTPUTS</a:t>
            </a:r>
            <a:endParaRPr lang="en-US" sz="3800" dirty="0"/>
          </a:p>
        </p:txBody>
      </p:sp>
      <p:sp>
        <p:nvSpPr>
          <p:cNvPr id="3" name="Text 1"/>
          <p:cNvSpPr/>
          <p:nvPr/>
        </p:nvSpPr>
        <p:spPr>
          <a:xfrm>
            <a:off x="609585" y="1295368"/>
            <a:ext cx="7619810" cy="279393"/>
          </a:xfrm>
          <a:prstGeom prst="rect">
            <a:avLst/>
          </a:prstGeom>
          <a:noFill/>
          <a:ln/>
        </p:spPr>
        <p:txBody>
          <a:bodyPr wrap="square" lIns="0" tIns="0" rIns="0" bIns="0" rtlCol="0" anchor="t">
            <a:normAutofit/>
          </a:bodyPr>
          <a:lstStyle/>
          <a:p>
            <a:pPr algn="l" indent="0" marL="0">
              <a:buNone/>
            </a:pPr>
            <a:r>
              <a:rPr lang="en-US" sz="1700" dirty="0">
                <a:solidFill>
                  <a:srgbClr val="EAFFF5"/>
                </a:solidFill>
                <a:latin typeface="Inter" pitchFamily="34" charset="0"/>
                <a:ea typeface="Inter" pitchFamily="34" charset="-122"/>
                <a:cs typeface="Inter" pitchFamily="34" charset="-120"/>
              </a:rPr>
              <a:t>Anything the agent can reach, made into an explainer.</a:t>
            </a:r>
            <a:endParaRPr lang="en-US" sz="1700" dirty="0"/>
          </a:p>
        </p:txBody>
      </p:sp>
      <p:sp>
        <p:nvSpPr>
          <p:cNvPr id="4" name="Shape 2"/>
          <p:cNvSpPr/>
          <p:nvPr/>
        </p:nvSpPr>
        <p:spPr>
          <a:xfrm>
            <a:off x="609585" y="1904952"/>
            <a:ext cx="10972526" cy="3936902"/>
          </a:xfrm>
          <a:prstGeom prst="roundRect">
            <a:avLst>
              <a:gd name="adj" fmla="val 5161"/>
            </a:avLst>
          </a:prstGeom>
          <a:solidFill>
            <a:srgbClr val="05080D"/>
          </a:solidFill>
          <a:ln w="6350">
            <a:solidFill>
              <a:srgbClr val="2EC8FF"/>
            </a:solidFill>
            <a:prstDash val="solid"/>
          </a:ln>
        </p:spPr>
      </p:sp>
      <p:sp>
        <p:nvSpPr>
          <p:cNvPr id="5" name="Text 3"/>
          <p:cNvSpPr/>
          <p:nvPr/>
        </p:nvSpPr>
        <p:spPr>
          <a:xfrm>
            <a:off x="812780" y="1816055"/>
            <a:ext cx="2438339" cy="177796"/>
          </a:xfrm>
          <a:prstGeom prst="rect">
            <a:avLst/>
          </a:prstGeom>
          <a:solidFill>
            <a:srgbClr val="05080D"/>
          </a:solidFill>
          <a:ln/>
        </p:spPr>
        <p:txBody>
          <a:bodyPr wrap="square" lIns="0" tIns="0" rIns="0" bIns="0" rtlCol="0" anchor="ctr"/>
          <a:lstStyle/>
          <a:p>
            <a:pPr algn="ctr" indent="0" marL="0">
              <a:buNone/>
            </a:pPr>
            <a:r>
              <a:rPr lang="en-US" sz="1100" b="1" dirty="0">
                <a:solidFill>
                  <a:srgbClr val="2EC8FF"/>
                </a:solidFill>
                <a:latin typeface="JetBrains Mono" pitchFamily="34" charset="0"/>
                <a:ea typeface="JetBrains Mono" pitchFamily="34" charset="-122"/>
                <a:cs typeface="JetBrains Mono" pitchFamily="34" charset="-120"/>
              </a:rPr>
              <a:t>local web app · 127.0.0.1</a:t>
            </a:r>
            <a:endParaRPr lang="en-US" sz="1100" dirty="0"/>
          </a:p>
        </p:txBody>
      </p:sp>
      <p:sp>
        <p:nvSpPr>
          <p:cNvPr id="6" name="Shape 4"/>
          <p:cNvSpPr/>
          <p:nvPr/>
        </p:nvSpPr>
        <p:spPr>
          <a:xfrm>
            <a:off x="2298643" y="2984425"/>
            <a:ext cx="698483" cy="787380"/>
          </a:xfrm>
          <a:prstGeom prst="line">
            <a:avLst/>
          </a:prstGeom>
          <a:noFill/>
          <a:ln w="19050">
            <a:solidFill>
              <a:srgbClr val="2EC8FF"/>
            </a:solidFill>
            <a:prstDash val="solid"/>
            <a:headEnd type="none"/>
            <a:tailEnd type="triangle"/>
          </a:ln>
        </p:spPr>
      </p:sp>
      <p:sp>
        <p:nvSpPr>
          <p:cNvPr id="7" name="Shape 5"/>
          <p:cNvSpPr/>
          <p:nvPr/>
        </p:nvSpPr>
        <p:spPr>
          <a:xfrm>
            <a:off x="2298643" y="3873403"/>
            <a:ext cx="685783" cy="0"/>
          </a:xfrm>
          <a:prstGeom prst="line">
            <a:avLst/>
          </a:prstGeom>
          <a:noFill/>
          <a:ln w="19050">
            <a:solidFill>
              <a:srgbClr val="2EC8FF"/>
            </a:solidFill>
            <a:prstDash val="solid"/>
            <a:headEnd type="none"/>
            <a:tailEnd type="triangle"/>
          </a:ln>
        </p:spPr>
      </p:sp>
      <p:sp>
        <p:nvSpPr>
          <p:cNvPr id="8" name="Shape 6"/>
          <p:cNvSpPr/>
          <p:nvPr/>
        </p:nvSpPr>
        <p:spPr>
          <a:xfrm flipV="1">
            <a:off x="2298643" y="3975001"/>
            <a:ext cx="698483" cy="787380"/>
          </a:xfrm>
          <a:prstGeom prst="line">
            <a:avLst/>
          </a:prstGeom>
          <a:noFill/>
          <a:ln w="19050">
            <a:solidFill>
              <a:srgbClr val="2EC8FF"/>
            </a:solidFill>
            <a:prstDash val="solid"/>
            <a:headEnd type="none"/>
            <a:tailEnd type="triangle"/>
          </a:ln>
        </p:spPr>
      </p:sp>
      <p:sp>
        <p:nvSpPr>
          <p:cNvPr id="9" name="Shape 7"/>
          <p:cNvSpPr/>
          <p:nvPr/>
        </p:nvSpPr>
        <p:spPr>
          <a:xfrm flipV="1">
            <a:off x="7569011" y="2622484"/>
            <a:ext cx="990575" cy="1250919"/>
          </a:xfrm>
          <a:prstGeom prst="line">
            <a:avLst/>
          </a:prstGeom>
          <a:noFill/>
          <a:ln w="19050">
            <a:solidFill>
              <a:srgbClr val="2EC8FF"/>
            </a:solidFill>
            <a:prstDash val="solid"/>
            <a:headEnd type="none"/>
            <a:tailEnd type="triangle"/>
          </a:ln>
        </p:spPr>
      </p:sp>
      <p:sp>
        <p:nvSpPr>
          <p:cNvPr id="10" name="Shape 8"/>
          <p:cNvSpPr/>
          <p:nvPr/>
        </p:nvSpPr>
        <p:spPr>
          <a:xfrm flipV="1">
            <a:off x="7569011" y="3530512"/>
            <a:ext cx="622284" cy="342891"/>
          </a:xfrm>
          <a:prstGeom prst="line">
            <a:avLst/>
          </a:prstGeom>
          <a:noFill/>
          <a:ln w="19050">
            <a:solidFill>
              <a:srgbClr val="2EC8FF"/>
            </a:solidFill>
            <a:prstDash val="solid"/>
            <a:headEnd type="none"/>
            <a:tailEnd type="triangle"/>
          </a:ln>
        </p:spPr>
      </p:sp>
      <p:sp>
        <p:nvSpPr>
          <p:cNvPr id="11" name="Shape 9"/>
          <p:cNvSpPr/>
          <p:nvPr/>
        </p:nvSpPr>
        <p:spPr>
          <a:xfrm>
            <a:off x="7569011" y="3873403"/>
            <a:ext cx="990575" cy="546086"/>
          </a:xfrm>
          <a:prstGeom prst="line">
            <a:avLst/>
          </a:prstGeom>
          <a:noFill/>
          <a:ln w="19050">
            <a:solidFill>
              <a:srgbClr val="2EC8FF"/>
            </a:solidFill>
            <a:prstDash val="solid"/>
            <a:headEnd type="none"/>
            <a:tailEnd type="triangle"/>
          </a:ln>
        </p:spPr>
      </p:sp>
      <p:sp>
        <p:nvSpPr>
          <p:cNvPr id="12" name="Shape 10"/>
          <p:cNvSpPr/>
          <p:nvPr/>
        </p:nvSpPr>
        <p:spPr>
          <a:xfrm>
            <a:off x="7569011" y="3873403"/>
            <a:ext cx="990575" cy="1250919"/>
          </a:xfrm>
          <a:prstGeom prst="line">
            <a:avLst/>
          </a:prstGeom>
          <a:noFill/>
          <a:ln w="19050">
            <a:solidFill>
              <a:srgbClr val="2EC8FF"/>
            </a:solidFill>
            <a:prstDash val="solid"/>
            <a:headEnd type="none"/>
            <a:tailEnd type="triangle"/>
          </a:ln>
        </p:spPr>
      </p:sp>
      <p:sp>
        <p:nvSpPr>
          <p:cNvPr id="13" name="Text 11"/>
          <p:cNvSpPr/>
          <p:nvPr/>
        </p:nvSpPr>
        <p:spPr>
          <a:xfrm>
            <a:off x="863578" y="2730432"/>
            <a:ext cx="1396965" cy="507987"/>
          </a:xfrm>
          <a:prstGeom prst="roundRect">
            <a:avLst>
              <a:gd name="adj" fmla="val 22500"/>
            </a:avLst>
          </a:prstGeom>
          <a:solidFill>
            <a:srgbClr val="0B1622"/>
          </a:solidFill>
          <a:ln w="19050">
            <a:solidFill>
              <a:srgbClr val="2EC8FF"/>
            </a:solidFill>
          </a:ln>
        </p:spPr>
        <p:txBody>
          <a:bodyPr wrap="square" lIns="0" tIns="0" rIns="0" bIns="0" rtlCol="0" anchor="ctr"/>
          <a:lstStyle/>
          <a:p>
            <a:pPr algn="ctr" indent="0" marL="0">
              <a:buNone/>
            </a:pPr>
            <a:r>
              <a:rPr lang="en-US" sz="1100" b="1" dirty="0">
                <a:solidFill>
                  <a:srgbClr val="EAFFF5"/>
                </a:solidFill>
                <a:latin typeface="JetBrains Mono" pitchFamily="34" charset="0"/>
                <a:ea typeface="JetBrains Mono" pitchFamily="34" charset="-122"/>
                <a:cs typeface="JetBrains Mono" pitchFamily="34" charset="-120"/>
              </a:rPr>
              <a:t>meeting</a:t>
            </a:r>
            <a:endParaRPr lang="en-US" sz="1100" dirty="0"/>
          </a:p>
        </p:txBody>
      </p:sp>
      <p:sp>
        <p:nvSpPr>
          <p:cNvPr id="14" name="Text 12"/>
          <p:cNvSpPr/>
          <p:nvPr/>
        </p:nvSpPr>
        <p:spPr>
          <a:xfrm>
            <a:off x="863578" y="3619410"/>
            <a:ext cx="1396965" cy="507987"/>
          </a:xfrm>
          <a:prstGeom prst="roundRect">
            <a:avLst>
              <a:gd name="adj" fmla="val 22500"/>
            </a:avLst>
          </a:prstGeom>
          <a:solidFill>
            <a:srgbClr val="0B1622"/>
          </a:solidFill>
          <a:ln w="19050">
            <a:solidFill>
              <a:srgbClr val="2EC8FF"/>
            </a:solidFill>
          </a:ln>
        </p:spPr>
        <p:txBody>
          <a:bodyPr wrap="square" lIns="0" tIns="0" rIns="0" bIns="0" rtlCol="0" anchor="ctr"/>
          <a:lstStyle/>
          <a:p>
            <a:pPr algn="ctr" indent="0" marL="0">
              <a:buNone/>
            </a:pPr>
            <a:r>
              <a:rPr lang="en-US" sz="1100" b="1" dirty="0">
                <a:solidFill>
                  <a:srgbClr val="EAFFF5"/>
                </a:solidFill>
                <a:latin typeface="JetBrains Mono" pitchFamily="34" charset="0"/>
                <a:ea typeface="JetBrains Mono" pitchFamily="34" charset="-122"/>
                <a:cs typeface="JetBrains Mono" pitchFamily="34" charset="-120"/>
              </a:rPr>
              <a:t>paper</a:t>
            </a:r>
            <a:endParaRPr lang="en-US" sz="1100" dirty="0"/>
          </a:p>
        </p:txBody>
      </p:sp>
      <p:sp>
        <p:nvSpPr>
          <p:cNvPr id="15" name="Text 13"/>
          <p:cNvSpPr/>
          <p:nvPr/>
        </p:nvSpPr>
        <p:spPr>
          <a:xfrm>
            <a:off x="863578" y="4508387"/>
            <a:ext cx="1396965" cy="507987"/>
          </a:xfrm>
          <a:prstGeom prst="roundRect">
            <a:avLst>
              <a:gd name="adj" fmla="val 22500"/>
            </a:avLst>
          </a:prstGeom>
          <a:solidFill>
            <a:srgbClr val="0B1622"/>
          </a:solidFill>
          <a:ln w="19050">
            <a:solidFill>
              <a:srgbClr val="2EC8FF"/>
            </a:solidFill>
          </a:ln>
        </p:spPr>
        <p:txBody>
          <a:bodyPr wrap="square" lIns="0" tIns="0" rIns="0" bIns="0" rtlCol="0" anchor="ctr"/>
          <a:lstStyle/>
          <a:p>
            <a:pPr algn="ctr" indent="0" marL="0">
              <a:buNone/>
            </a:pPr>
            <a:r>
              <a:rPr lang="en-US" sz="1100" b="1" dirty="0">
                <a:solidFill>
                  <a:srgbClr val="EAFFF5"/>
                </a:solidFill>
                <a:latin typeface="JetBrains Mono" pitchFamily="34" charset="0"/>
                <a:ea typeface="JetBrains Mono" pitchFamily="34" charset="-122"/>
                <a:cs typeface="JetBrains Mono" pitchFamily="34" charset="-120"/>
              </a:rPr>
              <a:t>folder</a:t>
            </a:r>
            <a:endParaRPr lang="en-US" sz="1100" dirty="0"/>
          </a:p>
        </p:txBody>
      </p:sp>
      <p:sp>
        <p:nvSpPr>
          <p:cNvPr id="16" name="Text 14"/>
          <p:cNvSpPr/>
          <p:nvPr/>
        </p:nvSpPr>
        <p:spPr>
          <a:xfrm>
            <a:off x="3047924" y="3568611"/>
            <a:ext cx="4444889" cy="609585"/>
          </a:xfrm>
          <a:prstGeom prst="roundRect">
            <a:avLst>
              <a:gd name="adj" fmla="val 50000"/>
            </a:avLst>
          </a:prstGeom>
          <a:solidFill>
            <a:srgbClr val="39FF9C"/>
          </a:solidFill>
          <a:ln/>
        </p:spPr>
        <p:txBody>
          <a:bodyPr wrap="square" lIns="0" tIns="0" rIns="0" bIns="0" rtlCol="0" anchor="ctr"/>
          <a:lstStyle/>
          <a:p>
            <a:pPr algn="ctr" indent="0" marL="0">
              <a:buNone/>
            </a:pPr>
            <a:r>
              <a:rPr lang="en-US" sz="1500" b="1" dirty="0">
                <a:solidFill>
                  <a:srgbClr val="05080D"/>
                </a:solidFill>
                <a:latin typeface="JetBrains Mono" pitchFamily="34" charset="0"/>
                <a:ea typeface="JetBrains Mono" pitchFamily="34" charset="-122"/>
                <a:cs typeface="JetBrains Mono" pitchFamily="34" charset="-120"/>
              </a:rPr>
              <a:t>/explainer &lt;topic&gt; &lt;style&gt; &lt;type&gt;</a:t>
            </a:r>
            <a:endParaRPr lang="en-US" sz="1500" dirty="0"/>
          </a:p>
        </p:txBody>
      </p:sp>
      <p:sp>
        <p:nvSpPr>
          <p:cNvPr id="17" name="Shape 15"/>
          <p:cNvSpPr/>
          <p:nvPr/>
        </p:nvSpPr>
        <p:spPr>
          <a:xfrm>
            <a:off x="8635784" y="2330392"/>
            <a:ext cx="2285943" cy="558786"/>
          </a:xfrm>
          <a:prstGeom prst="roundRect">
            <a:avLst>
              <a:gd name="adj" fmla="val 20455"/>
            </a:avLst>
          </a:prstGeom>
          <a:solidFill>
            <a:srgbClr val="0F2233"/>
          </a:solidFill>
          <a:ln w="19050">
            <a:solidFill>
              <a:srgbClr val="2EC8FF"/>
            </a:solidFill>
            <a:prstDash val="solid"/>
          </a:ln>
        </p:spPr>
      </p:sp>
      <p:sp>
        <p:nvSpPr>
          <p:cNvPr id="18" name="Text 16"/>
          <p:cNvSpPr/>
          <p:nvPr/>
        </p:nvSpPr>
        <p:spPr>
          <a:xfrm>
            <a:off x="8813580" y="2520887"/>
            <a:ext cx="533387" cy="177796"/>
          </a:xfrm>
          <a:prstGeom prst="rect">
            <a:avLst/>
          </a:prstGeom>
          <a:noFill/>
          <a:ln/>
        </p:spPr>
        <p:txBody>
          <a:bodyPr wrap="square" lIns="0" tIns="0" rIns="0" bIns="0" rtlCol="0" anchor="ctr">
            <a:normAutofit/>
          </a:bodyPr>
          <a:lstStyle/>
          <a:p>
            <a:pPr algn="l" indent="0" marL="0">
              <a:buNone/>
            </a:pPr>
            <a:r>
              <a:rPr lang="en-US" sz="1100" b="1" dirty="0">
                <a:solidFill>
                  <a:srgbClr val="EAFFF5"/>
                </a:solidFill>
                <a:latin typeface="JetBrains Mono" pitchFamily="34" charset="0"/>
                <a:ea typeface="JetBrains Mono" pitchFamily="34" charset="-122"/>
                <a:cs typeface="JetBrains Mono" pitchFamily="34" charset="-120"/>
              </a:rPr>
              <a:t>VIDEO</a:t>
            </a:r>
            <a:endParaRPr lang="en-US" sz="1100" dirty="0"/>
          </a:p>
        </p:txBody>
      </p:sp>
      <p:sp>
        <p:nvSpPr>
          <p:cNvPr id="19" name="Text 17"/>
          <p:cNvSpPr/>
          <p:nvPr/>
        </p:nvSpPr>
        <p:spPr>
          <a:xfrm>
            <a:off x="9346966" y="2520887"/>
            <a:ext cx="1460463" cy="177796"/>
          </a:xfrm>
          <a:prstGeom prst="rect">
            <a:avLst/>
          </a:prstGeom>
          <a:noFill/>
          <a:ln/>
        </p:spPr>
        <p:txBody>
          <a:bodyPr wrap="square" lIns="0" tIns="0" rIns="0" bIns="0" rtlCol="0" anchor="ctr">
            <a:normAutofit/>
          </a:bodyPr>
          <a:lstStyle/>
          <a:p>
            <a:pPr algn="l" indent="0" marL="0">
              <a:buNone/>
            </a:pPr>
            <a:r>
              <a:rPr lang="en-US" sz="1100" b="1" dirty="0">
                <a:solidFill>
                  <a:srgbClr val="7F9BB0"/>
                </a:solidFill>
                <a:latin typeface="JetBrains Mono" pitchFamily="34" charset="0"/>
                <a:ea typeface="JetBrains Mono" pitchFamily="34" charset="-122"/>
                <a:cs typeface="JetBrains Mono" pitchFamily="34" charset="-120"/>
              </a:rPr>
              <a:t>· MP4</a:t>
            </a:r>
            <a:endParaRPr lang="en-US" sz="1100" dirty="0"/>
          </a:p>
        </p:txBody>
      </p:sp>
      <p:sp>
        <p:nvSpPr>
          <p:cNvPr id="20" name="Shape 18"/>
          <p:cNvSpPr/>
          <p:nvPr/>
        </p:nvSpPr>
        <p:spPr>
          <a:xfrm>
            <a:off x="8286543" y="3060623"/>
            <a:ext cx="2984425" cy="914377"/>
          </a:xfrm>
          <a:prstGeom prst="roundRect">
            <a:avLst>
              <a:gd name="adj" fmla="val 16667"/>
            </a:avLst>
          </a:prstGeom>
          <a:solidFill>
            <a:srgbClr val="05080D"/>
          </a:solidFill>
          <a:ln w="38100">
            <a:solidFill>
              <a:srgbClr val="E8FF3A"/>
            </a:solidFill>
            <a:prstDash val="solid"/>
          </a:ln>
        </p:spPr>
      </p:sp>
      <p:sp>
        <p:nvSpPr>
          <p:cNvPr id="21" name="Shape 19"/>
          <p:cNvSpPr/>
          <p:nvPr/>
        </p:nvSpPr>
        <p:spPr>
          <a:xfrm>
            <a:off x="8407190" y="3181270"/>
            <a:ext cx="2743131" cy="673083"/>
          </a:xfrm>
          <a:prstGeom prst="roundRect">
            <a:avLst>
              <a:gd name="adj" fmla="val 16981"/>
            </a:avLst>
          </a:prstGeom>
          <a:solidFill>
            <a:srgbClr val="0D2D22"/>
          </a:solidFill>
          <a:ln w="19050">
            <a:solidFill>
              <a:srgbClr val="39FF9C"/>
            </a:solidFill>
            <a:prstDash val="solid"/>
          </a:ln>
        </p:spPr>
      </p:sp>
      <p:sp>
        <p:nvSpPr>
          <p:cNvPr id="22" name="Text 20"/>
          <p:cNvSpPr/>
          <p:nvPr/>
        </p:nvSpPr>
        <p:spPr>
          <a:xfrm>
            <a:off x="8623084" y="3390815"/>
            <a:ext cx="609585" cy="253994"/>
          </a:xfrm>
          <a:prstGeom prst="rect">
            <a:avLst/>
          </a:prstGeom>
          <a:noFill/>
          <a:ln/>
        </p:spPr>
        <p:txBody>
          <a:bodyPr wrap="square" lIns="0" tIns="0" rIns="0" bIns="0" rtlCol="0" anchor="ctr">
            <a:normAutofit/>
          </a:bodyPr>
          <a:lstStyle/>
          <a:p>
            <a:pPr algn="l" indent="0" marL="0">
              <a:buNone/>
            </a:pPr>
            <a:r>
              <a:rPr lang="en-US" sz="1500" b="1" dirty="0">
                <a:solidFill>
                  <a:srgbClr val="EAFFF5"/>
                </a:solidFill>
                <a:latin typeface="JetBrains Mono" pitchFamily="34" charset="0"/>
                <a:ea typeface="JetBrains Mono" pitchFamily="34" charset="-122"/>
                <a:cs typeface="JetBrains Mono" pitchFamily="34" charset="-120"/>
              </a:rPr>
              <a:t>DECK</a:t>
            </a:r>
            <a:endParaRPr lang="en-US" sz="1500" dirty="0"/>
          </a:p>
        </p:txBody>
      </p:sp>
      <p:sp>
        <p:nvSpPr>
          <p:cNvPr id="23" name="Text 21"/>
          <p:cNvSpPr/>
          <p:nvPr/>
        </p:nvSpPr>
        <p:spPr>
          <a:xfrm>
            <a:off x="9232669" y="3390815"/>
            <a:ext cx="1841454" cy="253994"/>
          </a:xfrm>
          <a:prstGeom prst="rect">
            <a:avLst/>
          </a:prstGeom>
          <a:noFill/>
          <a:ln/>
        </p:spPr>
        <p:txBody>
          <a:bodyPr wrap="square" lIns="0" tIns="0" rIns="0" bIns="0" rtlCol="0" anchor="ctr">
            <a:normAutofit/>
          </a:bodyPr>
          <a:lstStyle/>
          <a:p>
            <a:pPr algn="l" indent="0" marL="0">
              <a:buNone/>
            </a:pPr>
            <a:r>
              <a:rPr lang="en-US" sz="1500" b="1" dirty="0">
                <a:solidFill>
                  <a:srgbClr val="7F9BB0"/>
                </a:solidFill>
                <a:latin typeface="JetBrains Mono" pitchFamily="34" charset="0"/>
                <a:ea typeface="JetBrains Mono" pitchFamily="34" charset="-122"/>
                <a:cs typeface="JetBrains Mono" pitchFamily="34" charset="-120"/>
              </a:rPr>
              <a:t>· HTML + PPTX</a:t>
            </a:r>
            <a:endParaRPr lang="en-US" sz="1500" dirty="0"/>
          </a:p>
        </p:txBody>
      </p:sp>
      <p:sp>
        <p:nvSpPr>
          <p:cNvPr id="24" name="Shape 22"/>
          <p:cNvSpPr/>
          <p:nvPr/>
        </p:nvSpPr>
        <p:spPr>
          <a:xfrm>
            <a:off x="8635784" y="4146446"/>
            <a:ext cx="2285943" cy="558786"/>
          </a:xfrm>
          <a:prstGeom prst="roundRect">
            <a:avLst>
              <a:gd name="adj" fmla="val 20455"/>
            </a:avLst>
          </a:prstGeom>
          <a:solidFill>
            <a:srgbClr val="0F2233"/>
          </a:solidFill>
          <a:ln w="19050">
            <a:solidFill>
              <a:srgbClr val="2EC8FF"/>
            </a:solidFill>
            <a:prstDash val="solid"/>
          </a:ln>
        </p:spPr>
      </p:sp>
      <p:sp>
        <p:nvSpPr>
          <p:cNvPr id="25" name="Text 23"/>
          <p:cNvSpPr/>
          <p:nvPr/>
        </p:nvSpPr>
        <p:spPr>
          <a:xfrm>
            <a:off x="8813580" y="4336942"/>
            <a:ext cx="895328" cy="177796"/>
          </a:xfrm>
          <a:prstGeom prst="rect">
            <a:avLst/>
          </a:prstGeom>
          <a:noFill/>
          <a:ln/>
        </p:spPr>
        <p:txBody>
          <a:bodyPr wrap="square" lIns="0" tIns="0" rIns="0" bIns="0" rtlCol="0" anchor="ctr">
            <a:normAutofit/>
          </a:bodyPr>
          <a:lstStyle/>
          <a:p>
            <a:pPr algn="l" indent="0" marL="0">
              <a:buNone/>
            </a:pPr>
            <a:r>
              <a:rPr lang="en-US" sz="1100" b="1" dirty="0">
                <a:solidFill>
                  <a:srgbClr val="EAFFF5"/>
                </a:solidFill>
                <a:latin typeface="JetBrains Mono" pitchFamily="34" charset="0"/>
                <a:ea typeface="JetBrains Mono" pitchFamily="34" charset="-122"/>
                <a:cs typeface="JetBrains Mono" pitchFamily="34" charset="-120"/>
              </a:rPr>
              <a:t>ONE-PAGER</a:t>
            </a:r>
            <a:endParaRPr lang="en-US" sz="1100" dirty="0"/>
          </a:p>
        </p:txBody>
      </p:sp>
      <p:sp>
        <p:nvSpPr>
          <p:cNvPr id="26" name="Text 24"/>
          <p:cNvSpPr/>
          <p:nvPr/>
        </p:nvSpPr>
        <p:spPr>
          <a:xfrm>
            <a:off x="9708907" y="4336942"/>
            <a:ext cx="1142971" cy="177796"/>
          </a:xfrm>
          <a:prstGeom prst="rect">
            <a:avLst/>
          </a:prstGeom>
          <a:noFill/>
          <a:ln/>
        </p:spPr>
        <p:txBody>
          <a:bodyPr wrap="square" lIns="0" tIns="0" rIns="0" bIns="0" rtlCol="0" anchor="ctr">
            <a:normAutofit/>
          </a:bodyPr>
          <a:lstStyle/>
          <a:p>
            <a:pPr algn="l" indent="0" marL="0">
              <a:buNone/>
            </a:pPr>
            <a:r>
              <a:rPr lang="en-US" sz="1100" b="1" dirty="0">
                <a:solidFill>
                  <a:srgbClr val="7F9BB0"/>
                </a:solidFill>
                <a:latin typeface="JetBrains Mono" pitchFamily="34" charset="0"/>
                <a:ea typeface="JetBrains Mono" pitchFamily="34" charset="-122"/>
                <a:cs typeface="JetBrains Mono" pitchFamily="34" charset="-120"/>
              </a:rPr>
              <a:t>· PNG</a:t>
            </a:r>
            <a:endParaRPr lang="en-US" sz="1100" dirty="0"/>
          </a:p>
        </p:txBody>
      </p:sp>
      <p:sp>
        <p:nvSpPr>
          <p:cNvPr id="27" name="Shape 25"/>
          <p:cNvSpPr/>
          <p:nvPr/>
        </p:nvSpPr>
        <p:spPr>
          <a:xfrm>
            <a:off x="8635784" y="4857629"/>
            <a:ext cx="2285943" cy="558786"/>
          </a:xfrm>
          <a:prstGeom prst="roundRect">
            <a:avLst>
              <a:gd name="adj" fmla="val 20455"/>
            </a:avLst>
          </a:prstGeom>
          <a:solidFill>
            <a:srgbClr val="0F2233"/>
          </a:solidFill>
          <a:ln w="19050">
            <a:solidFill>
              <a:srgbClr val="2EC8FF"/>
            </a:solidFill>
            <a:prstDash val="solid"/>
          </a:ln>
        </p:spPr>
      </p:sp>
      <p:sp>
        <p:nvSpPr>
          <p:cNvPr id="28" name="Text 26"/>
          <p:cNvSpPr/>
          <p:nvPr/>
        </p:nvSpPr>
        <p:spPr>
          <a:xfrm>
            <a:off x="8813580" y="5048124"/>
            <a:ext cx="1162021" cy="177796"/>
          </a:xfrm>
          <a:prstGeom prst="rect">
            <a:avLst/>
          </a:prstGeom>
          <a:noFill/>
          <a:ln/>
        </p:spPr>
        <p:txBody>
          <a:bodyPr wrap="square" lIns="0" tIns="0" rIns="0" bIns="0" rtlCol="0" anchor="ctr">
            <a:normAutofit/>
          </a:bodyPr>
          <a:lstStyle/>
          <a:p>
            <a:pPr algn="l" indent="0" marL="0">
              <a:buNone/>
            </a:pPr>
            <a:r>
              <a:rPr lang="en-US" sz="1100" b="1" dirty="0">
                <a:solidFill>
                  <a:srgbClr val="EAFFF5"/>
                </a:solidFill>
                <a:latin typeface="JetBrains Mono" pitchFamily="34" charset="0"/>
                <a:ea typeface="JetBrains Mono" pitchFamily="34" charset="-122"/>
                <a:cs typeface="JetBrains Mono" pitchFamily="34" charset="-120"/>
              </a:rPr>
              <a:t>BRIEFING DOC</a:t>
            </a:r>
            <a:endParaRPr lang="en-US" sz="1100" dirty="0"/>
          </a:p>
        </p:txBody>
      </p:sp>
      <p:sp>
        <p:nvSpPr>
          <p:cNvPr id="29" name="Text 27"/>
          <p:cNvSpPr/>
          <p:nvPr/>
        </p:nvSpPr>
        <p:spPr>
          <a:xfrm>
            <a:off x="9975601" y="5048124"/>
            <a:ext cx="888978" cy="177796"/>
          </a:xfrm>
          <a:prstGeom prst="rect">
            <a:avLst/>
          </a:prstGeom>
          <a:noFill/>
          <a:ln/>
        </p:spPr>
        <p:txBody>
          <a:bodyPr wrap="square" lIns="0" tIns="0" rIns="0" bIns="0" rtlCol="0" anchor="ctr">
            <a:normAutofit/>
          </a:bodyPr>
          <a:lstStyle/>
          <a:p>
            <a:pPr algn="l" indent="0" marL="0">
              <a:buNone/>
            </a:pPr>
            <a:r>
              <a:rPr lang="en-US" sz="1100" b="1" dirty="0">
                <a:solidFill>
                  <a:srgbClr val="7F9BB0"/>
                </a:solidFill>
                <a:latin typeface="JetBrains Mono" pitchFamily="34" charset="0"/>
                <a:ea typeface="JetBrains Mono" pitchFamily="34" charset="-122"/>
                <a:cs typeface="JetBrains Mono" pitchFamily="34" charset="-120"/>
              </a:rPr>
              <a:t>· PDF</a:t>
            </a:r>
            <a:endParaRPr lang="en-US" sz="1100" dirty="0"/>
          </a:p>
        </p:txBody>
      </p:sp>
      <p:sp>
        <p:nvSpPr>
          <p:cNvPr id="30" name="Text 28"/>
          <p:cNvSpPr/>
          <p:nvPr/>
        </p:nvSpPr>
        <p:spPr>
          <a:xfrm>
            <a:off x="10312142" y="6070448"/>
            <a:ext cx="1269968" cy="177796"/>
          </a:xfrm>
          <a:prstGeom prst="rect">
            <a:avLst/>
          </a:prstGeom>
          <a:noFill/>
          <a:ln/>
        </p:spPr>
        <p:txBody>
          <a:bodyPr wrap="square" lIns="0" tIns="0" rIns="0" bIns="0" rtlCol="0" anchor="t">
            <a:normAutofit/>
          </a:bodyPr>
          <a:lstStyle/>
          <a:p>
            <a:pPr algn="r" indent="0" marL="0">
              <a:buNone/>
            </a:pPr>
            <a:r>
              <a:rPr lang="en-US" sz="1000" b="1" dirty="0">
                <a:solidFill>
                  <a:srgbClr val="7F9BB0"/>
                </a:solidFill>
                <a:latin typeface="JetBrains Mono" pitchFamily="34" charset="0"/>
                <a:ea typeface="JetBrains Mono" pitchFamily="34" charset="-122"/>
                <a:cs typeface="JetBrains Mono" pitchFamily="34" charset="-120"/>
              </a:rPr>
              <a:t>02 / 06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80D"/>
        </a:solidFill>
      </p:bgPr>
    </p:bg>
    <p:spTree>
      <p:nvGrpSpPr>
        <p:cNvPr id="1" name=""/>
        <p:cNvGrpSpPr/>
        <p:nvPr/>
      </p:nvGrpSpPr>
      <p:grpSpPr>
        <a:xfrm>
          <a:off x="0" y="0"/>
          <a:ext cx="0" cy="0"/>
          <a:chOff x="0" y="0"/>
          <a:chExt cx="0" cy="0"/>
        </a:xfrm>
      </p:grpSpPr>
      <p:sp>
        <p:nvSpPr>
          <p:cNvPr id="2" name="Text 0"/>
          <p:cNvSpPr/>
          <p:nvPr/>
        </p:nvSpPr>
        <p:spPr>
          <a:xfrm>
            <a:off x="609585" y="609585"/>
            <a:ext cx="8889778" cy="584185"/>
          </a:xfrm>
          <a:prstGeom prst="rect">
            <a:avLst/>
          </a:prstGeom>
          <a:noFill/>
          <a:ln/>
        </p:spPr>
        <p:txBody>
          <a:bodyPr wrap="square" lIns="0" tIns="0" rIns="0" bIns="0" rtlCol="0" anchor="t">
            <a:normAutofit/>
          </a:bodyPr>
          <a:lstStyle/>
          <a:p>
            <a:pPr algn="l" indent="0" marL="0">
              <a:buNone/>
            </a:pPr>
            <a:r>
              <a:rPr lang="en-US" sz="3800" b="1" dirty="0">
                <a:solidFill>
                  <a:srgbClr val="EAFFF5"/>
                </a:solidFill>
                <a:latin typeface="Inter" pitchFamily="34" charset="0"/>
                <a:ea typeface="Inter" pitchFamily="34" charset="-122"/>
                <a:cs typeface="Inter" pitchFamily="34" charset="-120"/>
              </a:rPr>
              <a:t>WHY STYLES ARE THE PRODUCT</a:t>
            </a:r>
            <a:endParaRPr lang="en-US" sz="3800" dirty="0"/>
          </a:p>
        </p:txBody>
      </p:sp>
      <p:sp>
        <p:nvSpPr>
          <p:cNvPr id="3" name="Text 1"/>
          <p:cNvSpPr/>
          <p:nvPr/>
        </p:nvSpPr>
        <p:spPr>
          <a:xfrm>
            <a:off x="609585" y="1295368"/>
            <a:ext cx="7619810" cy="279393"/>
          </a:xfrm>
          <a:prstGeom prst="rect">
            <a:avLst/>
          </a:prstGeom>
          <a:noFill/>
          <a:ln/>
        </p:spPr>
        <p:txBody>
          <a:bodyPr wrap="square" lIns="0" tIns="0" rIns="0" bIns="0" rtlCol="0" anchor="t">
            <a:normAutofit/>
          </a:bodyPr>
          <a:lstStyle/>
          <a:p>
            <a:pPr algn="l" indent="0" marL="0">
              <a:buNone/>
            </a:pPr>
            <a:r>
              <a:rPr lang="en-US" sz="1700" dirty="0">
                <a:solidFill>
                  <a:srgbClr val="EAFFF5"/>
                </a:solidFill>
                <a:latin typeface="Inter" pitchFamily="34" charset="0"/>
                <a:ea typeface="Inter" pitchFamily="34" charset="-122"/>
                <a:cs typeface="Inter" pitchFamily="34" charset="-120"/>
              </a:rPr>
              <a:t>A style is a named, versioned asset, not a prompt line.</a:t>
            </a:r>
            <a:endParaRPr lang="en-US" sz="1700" dirty="0"/>
          </a:p>
        </p:txBody>
      </p:sp>
      <p:sp>
        <p:nvSpPr>
          <p:cNvPr id="4" name="Shape 2"/>
          <p:cNvSpPr/>
          <p:nvPr/>
        </p:nvSpPr>
        <p:spPr>
          <a:xfrm>
            <a:off x="609585" y="5740256"/>
            <a:ext cx="10972526" cy="0"/>
          </a:xfrm>
          <a:prstGeom prst="line">
            <a:avLst/>
          </a:prstGeom>
          <a:noFill/>
          <a:ln w="19050">
            <a:solidFill>
              <a:srgbClr val="2EC8FF"/>
            </a:solidFill>
            <a:prstDash val="solid"/>
            <a:headEnd type="none"/>
            <a:tailEnd type="none"/>
          </a:ln>
        </p:spPr>
      </p:sp>
      <p:sp>
        <p:nvSpPr>
          <p:cNvPr id="5" name="Shape 3"/>
          <p:cNvSpPr/>
          <p:nvPr/>
        </p:nvSpPr>
        <p:spPr>
          <a:xfrm flipV="1">
            <a:off x="761981" y="5486263"/>
            <a:ext cx="0" cy="253994"/>
          </a:xfrm>
          <a:prstGeom prst="line">
            <a:avLst/>
          </a:prstGeom>
          <a:noFill/>
          <a:ln w="19050">
            <a:solidFill>
              <a:srgbClr val="2EC8FF"/>
            </a:solidFill>
            <a:prstDash val="solid"/>
            <a:headEnd type="none"/>
            <a:tailEnd type="none"/>
          </a:ln>
        </p:spPr>
      </p:sp>
      <p:sp>
        <p:nvSpPr>
          <p:cNvPr id="6" name="Shape 4"/>
          <p:cNvSpPr/>
          <p:nvPr/>
        </p:nvSpPr>
        <p:spPr>
          <a:xfrm>
            <a:off x="761981" y="5486263"/>
            <a:ext cx="3428914" cy="0"/>
          </a:xfrm>
          <a:prstGeom prst="line">
            <a:avLst/>
          </a:prstGeom>
          <a:noFill/>
          <a:ln w="19050">
            <a:solidFill>
              <a:srgbClr val="2EC8FF"/>
            </a:solidFill>
            <a:prstDash val="solid"/>
            <a:headEnd type="none"/>
            <a:tailEnd type="none"/>
          </a:ln>
        </p:spPr>
      </p:sp>
      <p:sp>
        <p:nvSpPr>
          <p:cNvPr id="7" name="Shape 5"/>
          <p:cNvSpPr/>
          <p:nvPr/>
        </p:nvSpPr>
        <p:spPr>
          <a:xfrm flipV="1">
            <a:off x="4190895" y="3581310"/>
            <a:ext cx="0" cy="1904952"/>
          </a:xfrm>
          <a:prstGeom prst="line">
            <a:avLst/>
          </a:prstGeom>
          <a:noFill/>
          <a:ln w="19050">
            <a:solidFill>
              <a:srgbClr val="2EC8FF"/>
            </a:solidFill>
            <a:prstDash val="solid"/>
            <a:headEnd type="none"/>
            <a:tailEnd type="none"/>
          </a:ln>
        </p:spPr>
      </p:sp>
      <p:sp>
        <p:nvSpPr>
          <p:cNvPr id="8" name="Shape 6"/>
          <p:cNvSpPr/>
          <p:nvPr/>
        </p:nvSpPr>
        <p:spPr>
          <a:xfrm>
            <a:off x="4190895" y="3581310"/>
            <a:ext cx="3428914" cy="0"/>
          </a:xfrm>
          <a:prstGeom prst="line">
            <a:avLst/>
          </a:prstGeom>
          <a:noFill/>
          <a:ln w="19050">
            <a:solidFill>
              <a:srgbClr val="2EC8FF"/>
            </a:solidFill>
            <a:prstDash val="solid"/>
            <a:headEnd type="none"/>
            <a:tailEnd type="none"/>
          </a:ln>
        </p:spPr>
      </p:sp>
      <p:sp>
        <p:nvSpPr>
          <p:cNvPr id="9" name="Shape 7"/>
          <p:cNvSpPr/>
          <p:nvPr/>
        </p:nvSpPr>
        <p:spPr>
          <a:xfrm>
            <a:off x="7619810" y="3581310"/>
            <a:ext cx="0" cy="1904952"/>
          </a:xfrm>
          <a:prstGeom prst="line">
            <a:avLst/>
          </a:prstGeom>
          <a:noFill/>
          <a:ln w="19050">
            <a:solidFill>
              <a:srgbClr val="2EC8FF"/>
            </a:solidFill>
            <a:prstDash val="solid"/>
            <a:headEnd type="none"/>
            <a:tailEnd type="none"/>
          </a:ln>
        </p:spPr>
      </p:sp>
      <p:sp>
        <p:nvSpPr>
          <p:cNvPr id="10" name="Shape 8"/>
          <p:cNvSpPr/>
          <p:nvPr/>
        </p:nvSpPr>
        <p:spPr>
          <a:xfrm>
            <a:off x="7619810" y="5486263"/>
            <a:ext cx="3809905" cy="0"/>
          </a:xfrm>
          <a:prstGeom prst="line">
            <a:avLst/>
          </a:prstGeom>
          <a:noFill/>
          <a:ln w="19050">
            <a:solidFill>
              <a:srgbClr val="2EC8FF"/>
            </a:solidFill>
            <a:prstDash val="solid"/>
            <a:headEnd type="none"/>
            <a:tailEnd type="none"/>
          </a:ln>
        </p:spPr>
      </p:sp>
      <p:sp>
        <p:nvSpPr>
          <p:cNvPr id="11" name="Shape 9"/>
          <p:cNvSpPr/>
          <p:nvPr/>
        </p:nvSpPr>
        <p:spPr>
          <a:xfrm>
            <a:off x="11429714" y="5486263"/>
            <a:ext cx="0" cy="253994"/>
          </a:xfrm>
          <a:prstGeom prst="line">
            <a:avLst/>
          </a:prstGeom>
          <a:noFill/>
          <a:ln w="19050">
            <a:solidFill>
              <a:srgbClr val="2EC8FF"/>
            </a:solidFill>
            <a:prstDash val="solid"/>
            <a:headEnd type="none"/>
            <a:tailEnd type="none"/>
          </a:ln>
        </p:spPr>
      </p:sp>
      <p:sp>
        <p:nvSpPr>
          <p:cNvPr id="12" name="Text 10"/>
          <p:cNvSpPr/>
          <p:nvPr/>
        </p:nvSpPr>
        <p:spPr>
          <a:xfrm>
            <a:off x="1396965" y="4228994"/>
            <a:ext cx="2158946" cy="888978"/>
          </a:xfrm>
          <a:prstGeom prst="roundRect">
            <a:avLst>
              <a:gd name="adj" fmla="val 12857"/>
            </a:avLst>
          </a:prstGeom>
          <a:solidFill>
            <a:srgbClr val="05080D"/>
          </a:solidFill>
          <a:ln w="19050">
            <a:solidFill>
              <a:srgbClr val="7F9BB0"/>
            </a:solidFill>
          </a:ln>
        </p:spPr>
        <p:txBody>
          <a:bodyPr wrap="square" lIns="0" tIns="0" rIns="0" bIns="0" rtlCol="0" anchor="ctr"/>
          <a:lstStyle/>
          <a:p>
            <a:pPr algn="ctr" indent="0" marL="0">
              <a:buNone/>
            </a:pPr>
            <a:r>
              <a:rPr lang="en-US" sz="2300" b="1" dirty="0">
                <a:solidFill>
                  <a:srgbClr val="7F9BB0"/>
                </a:solidFill>
                <a:latin typeface="Inter" pitchFamily="34" charset="0"/>
                <a:ea typeface="Inter" pitchFamily="34" charset="-122"/>
                <a:cs typeface="Inter" pitchFamily="34" charset="-120"/>
              </a:rPr>
              <a:t>OPUS 5</a:t>
            </a:r>
            <a:endParaRPr lang="en-US" sz="2300" dirty="0"/>
          </a:p>
        </p:txBody>
      </p:sp>
      <p:sp>
        <p:nvSpPr>
          <p:cNvPr id="13" name="Text 11"/>
          <p:cNvSpPr/>
          <p:nvPr/>
        </p:nvSpPr>
        <p:spPr>
          <a:xfrm>
            <a:off x="1396965" y="5194170"/>
            <a:ext cx="2158946" cy="190495"/>
          </a:xfrm>
          <a:prstGeom prst="rect">
            <a:avLst/>
          </a:prstGeom>
          <a:noFill/>
          <a:ln/>
        </p:spPr>
        <p:txBody>
          <a:bodyPr wrap="square" lIns="0" tIns="0" rIns="0" bIns="0" rtlCol="0" anchor="ctr">
            <a:normAutofit/>
          </a:bodyPr>
          <a:lstStyle/>
          <a:p>
            <a:pPr algn="ctr" indent="0" marL="0">
              <a:buNone/>
            </a:pPr>
            <a:r>
              <a:rPr lang="en-US" sz="1100" b="1" dirty="0">
                <a:solidFill>
                  <a:srgbClr val="7F9BB0"/>
                </a:solidFill>
                <a:latin typeface="JetBrains Mono" pitchFamily="34" charset="0"/>
                <a:ea typeface="JetBrains Mono" pitchFamily="34" charset="-122"/>
                <a:cs typeface="JetBrains Mono" pitchFamily="34" charset="-120"/>
              </a:rPr>
              <a:t>meh</a:t>
            </a:r>
            <a:endParaRPr lang="en-US" sz="1100" dirty="0"/>
          </a:p>
        </p:txBody>
      </p:sp>
      <p:sp>
        <p:nvSpPr>
          <p:cNvPr id="14" name="Text 12"/>
          <p:cNvSpPr/>
          <p:nvPr/>
        </p:nvSpPr>
        <p:spPr>
          <a:xfrm>
            <a:off x="4825879" y="2324042"/>
            <a:ext cx="2158946" cy="888978"/>
          </a:xfrm>
          <a:prstGeom prst="roundRect">
            <a:avLst>
              <a:gd name="adj" fmla="val 12857"/>
            </a:avLst>
          </a:prstGeom>
          <a:solidFill>
            <a:srgbClr val="0D2D22"/>
          </a:solidFill>
          <a:ln w="19050">
            <a:solidFill>
              <a:srgbClr val="39FF9C"/>
            </a:solidFill>
          </a:ln>
        </p:spPr>
        <p:txBody>
          <a:bodyPr wrap="square" lIns="0" tIns="0" rIns="0" bIns="0" rtlCol="0" anchor="ctr"/>
          <a:lstStyle/>
          <a:p>
            <a:pPr algn="ctr" indent="0" marL="0">
              <a:buNone/>
            </a:pPr>
            <a:r>
              <a:rPr lang="en-US" sz="2300" b="1" dirty="0">
                <a:solidFill>
                  <a:srgbClr val="EAFFF5"/>
                </a:solidFill>
                <a:latin typeface="Inter" pitchFamily="34" charset="0"/>
                <a:ea typeface="Inter" pitchFamily="34" charset="-122"/>
                <a:cs typeface="Inter" pitchFamily="34" charset="-120"/>
              </a:rPr>
              <a:t>FABLE 5.1</a:t>
            </a:r>
            <a:endParaRPr lang="en-US" sz="2300" dirty="0"/>
          </a:p>
        </p:txBody>
      </p:sp>
      <p:sp>
        <p:nvSpPr>
          <p:cNvPr id="15" name="Text 13"/>
          <p:cNvSpPr/>
          <p:nvPr/>
        </p:nvSpPr>
        <p:spPr>
          <a:xfrm>
            <a:off x="4825879" y="3289218"/>
            <a:ext cx="2158946" cy="190495"/>
          </a:xfrm>
          <a:prstGeom prst="rect">
            <a:avLst/>
          </a:prstGeom>
          <a:noFill/>
          <a:ln/>
        </p:spPr>
        <p:txBody>
          <a:bodyPr wrap="square" lIns="0" tIns="0" rIns="0" bIns="0" rtlCol="0" anchor="ctr">
            <a:normAutofit/>
          </a:bodyPr>
          <a:lstStyle/>
          <a:p>
            <a:pPr algn="ctr" indent="0" marL="0">
              <a:buNone/>
            </a:pPr>
            <a:r>
              <a:rPr lang="en-US" sz="1100" b="1" dirty="0">
                <a:solidFill>
                  <a:srgbClr val="39FF9C"/>
                </a:solidFill>
                <a:latin typeface="JetBrains Mono" pitchFamily="34" charset="0"/>
                <a:ea typeface="JetBrains Mono" pitchFamily="34" charset="-122"/>
                <a:cs typeface="JetBrains Mono" pitchFamily="34" charset="-120"/>
              </a:rPr>
              <a:t>dramatic step up</a:t>
            </a:r>
            <a:endParaRPr lang="en-US" sz="1100" dirty="0"/>
          </a:p>
        </p:txBody>
      </p:sp>
      <p:sp>
        <p:nvSpPr>
          <p:cNvPr id="16" name="Text 14"/>
          <p:cNvSpPr/>
          <p:nvPr/>
        </p:nvSpPr>
        <p:spPr>
          <a:xfrm>
            <a:off x="8445289" y="4228994"/>
            <a:ext cx="2158946" cy="888978"/>
          </a:xfrm>
          <a:prstGeom prst="roundRect">
            <a:avLst>
              <a:gd name="adj" fmla="val 12857"/>
            </a:avLst>
          </a:prstGeom>
          <a:solidFill>
            <a:srgbClr val="0B1622"/>
          </a:solidFill>
          <a:ln w="19050">
            <a:solidFill>
              <a:srgbClr val="2EC8FF"/>
            </a:solidFill>
          </a:ln>
        </p:spPr>
        <p:txBody>
          <a:bodyPr wrap="square" lIns="0" tIns="0" rIns="0" bIns="0" rtlCol="0" anchor="ctr"/>
          <a:lstStyle/>
          <a:p>
            <a:pPr algn="ctr" indent="0" marL="0">
              <a:buNone/>
            </a:pPr>
            <a:r>
              <a:rPr lang="en-US" sz="2300" b="1" dirty="0">
                <a:solidFill>
                  <a:srgbClr val="EAFFF5"/>
                </a:solidFill>
                <a:latin typeface="Inter" pitchFamily="34" charset="0"/>
                <a:ea typeface="Inter" pitchFamily="34" charset="-122"/>
                <a:cs typeface="Inter" pitchFamily="34" charset="-120"/>
              </a:rPr>
              <a:t>OPUS 5.5</a:t>
            </a:r>
            <a:endParaRPr lang="en-US" sz="2300" dirty="0"/>
          </a:p>
        </p:txBody>
      </p:sp>
      <p:sp>
        <p:nvSpPr>
          <p:cNvPr id="17" name="Text 15"/>
          <p:cNvSpPr/>
          <p:nvPr/>
        </p:nvSpPr>
        <p:spPr>
          <a:xfrm>
            <a:off x="8445289" y="5194170"/>
            <a:ext cx="2158946" cy="190495"/>
          </a:xfrm>
          <a:prstGeom prst="rect">
            <a:avLst/>
          </a:prstGeom>
          <a:noFill/>
          <a:ln/>
        </p:spPr>
        <p:txBody>
          <a:bodyPr wrap="square" lIns="0" tIns="0" rIns="0" bIns="0" rtlCol="0" anchor="ctr">
            <a:normAutofit/>
          </a:bodyPr>
          <a:lstStyle/>
          <a:p>
            <a:pPr algn="ctr" indent="0" marL="0">
              <a:buNone/>
            </a:pPr>
            <a:r>
              <a:rPr lang="en-US" sz="1100" b="1" dirty="0">
                <a:solidFill>
                  <a:srgbClr val="2EC8FF"/>
                </a:solidFill>
                <a:latin typeface="JetBrains Mono" pitchFamily="34" charset="0"/>
                <a:ea typeface="JetBrains Mono" pitchFamily="34" charset="-122"/>
                <a:cs typeface="JetBrains Mono" pitchFamily="34" charset="-120"/>
              </a:rPr>
              <a:t>probably matches...</a:t>
            </a:r>
            <a:endParaRPr lang="en-US" sz="1100" dirty="0"/>
          </a:p>
        </p:txBody>
      </p:sp>
      <p:sp>
        <p:nvSpPr>
          <p:cNvPr id="18" name="Shape 16"/>
          <p:cNvSpPr/>
          <p:nvPr/>
        </p:nvSpPr>
        <p:spPr>
          <a:xfrm flipV="1">
            <a:off x="9524762" y="3352716"/>
            <a:ext cx="0" cy="863578"/>
          </a:xfrm>
          <a:prstGeom prst="line">
            <a:avLst/>
          </a:prstGeom>
          <a:noFill/>
          <a:ln w="19050">
            <a:solidFill>
              <a:srgbClr val="2EC8FF"/>
            </a:solidFill>
            <a:prstDash val="dash"/>
            <a:headEnd type="none"/>
            <a:tailEnd type="triangle"/>
          </a:ln>
        </p:spPr>
      </p:sp>
      <p:sp>
        <p:nvSpPr>
          <p:cNvPr id="19" name="Shape 17"/>
          <p:cNvSpPr/>
          <p:nvPr/>
        </p:nvSpPr>
        <p:spPr>
          <a:xfrm>
            <a:off x="8127797" y="2260543"/>
            <a:ext cx="2793930" cy="1015975"/>
          </a:xfrm>
          <a:prstGeom prst="roundRect">
            <a:avLst>
              <a:gd name="adj" fmla="val 16250"/>
            </a:avLst>
          </a:prstGeom>
          <a:ln w="38100">
            <a:solidFill>
              <a:srgbClr val="E8FF3A"/>
            </a:solidFill>
            <a:prstDash val="solid"/>
          </a:ln>
        </p:spPr>
      </p:sp>
      <p:sp>
        <p:nvSpPr>
          <p:cNvPr id="20" name="Text 18"/>
          <p:cNvSpPr/>
          <p:nvPr/>
        </p:nvSpPr>
        <p:spPr>
          <a:xfrm>
            <a:off x="8191295" y="2324042"/>
            <a:ext cx="2666933" cy="888978"/>
          </a:xfrm>
          <a:prstGeom prst="roundRect">
            <a:avLst>
              <a:gd name="adj" fmla="val 12857"/>
            </a:avLst>
          </a:prstGeom>
          <a:solidFill>
            <a:srgbClr val="0F2233"/>
          </a:solidFill>
          <a:ln w="6350">
            <a:solidFill>
              <a:srgbClr val="2EC8FF"/>
            </a:solidFill>
          </a:ln>
        </p:spPr>
        <p:txBody>
          <a:bodyPr wrap="square" lIns="0" tIns="0" rIns="0" bIns="0" rtlCol="0" anchor="ctr"/>
          <a:lstStyle/>
          <a:p>
            <a:pPr algn="ctr" indent="0" marL="0">
              <a:buNone/>
            </a:pPr>
            <a:r>
              <a:rPr lang="en-US" sz="1100" b="1" dirty="0">
                <a:solidFill>
                  <a:srgbClr val="EAFFF5"/>
                </a:solidFill>
                <a:latin typeface="JetBrains Mono" pitchFamily="34" charset="0"/>
                <a:ea typeface="JetBrains Mono" pitchFamily="34" charset="-122"/>
                <a:cs typeface="JetBrains Mono" pitchFamily="34" charset="-120"/>
              </a:rPr>
              <a:t>...if style instructions</a:t>
            </a:r>
            <a:endParaRPr lang="en-US" sz="1100" dirty="0"/>
          </a:p>
          <a:p>
            <a:pPr algn="ctr" indent="0" marL="0">
              <a:buNone/>
            </a:pPr>
            <a:r>
              <a:rPr lang="en-US" sz="1100" b="1" dirty="0">
                <a:solidFill>
                  <a:srgbClr val="EAFFF5"/>
                </a:solidFill>
                <a:latin typeface="JetBrains Mono" pitchFamily="34" charset="0"/>
                <a:ea typeface="JetBrains Mono" pitchFamily="34" charset="-122"/>
                <a:cs typeface="JetBrains Mono" pitchFamily="34" charset="-120"/>
              </a:rPr>
              <a:t>are refined</a:t>
            </a:r>
            <a:endParaRPr lang="en-US" sz="1100" dirty="0"/>
          </a:p>
        </p:txBody>
      </p:sp>
      <p:sp>
        <p:nvSpPr>
          <p:cNvPr id="21" name="Text 19"/>
          <p:cNvSpPr/>
          <p:nvPr/>
        </p:nvSpPr>
        <p:spPr>
          <a:xfrm>
            <a:off x="609585" y="6070448"/>
            <a:ext cx="7619810" cy="177796"/>
          </a:xfrm>
          <a:prstGeom prst="rect">
            <a:avLst/>
          </a:prstGeom>
          <a:noFill/>
          <a:ln/>
        </p:spPr>
        <p:txBody>
          <a:bodyPr wrap="square" lIns="0" tIns="0" rIns="0" bIns="0" rtlCol="0" anchor="ctr">
            <a:normAutofit/>
          </a:bodyPr>
          <a:lstStyle/>
          <a:p>
            <a:pPr algn="l" indent="0" marL="0">
              <a:buNone/>
            </a:pPr>
            <a:r>
              <a:rPr lang="en-US" sz="1000" b="1" dirty="0">
                <a:solidFill>
                  <a:srgbClr val="7F9BB0"/>
                </a:solidFill>
                <a:latin typeface="JetBrains Mono" pitchFamily="34" charset="0"/>
                <a:ea typeface="JetBrains Mono" pitchFamily="34" charset="-122"/>
                <a:cs typeface="JetBrains Mono" pitchFamily="34" charset="-120"/>
              </a:rPr>
              <a:t>*"Probably" is doing some work here. Untested.</a:t>
            </a:r>
            <a:endParaRPr lang="en-US" sz="1000" dirty="0"/>
          </a:p>
        </p:txBody>
      </p:sp>
      <p:sp>
        <p:nvSpPr>
          <p:cNvPr id="22" name="Text 20"/>
          <p:cNvSpPr/>
          <p:nvPr/>
        </p:nvSpPr>
        <p:spPr>
          <a:xfrm>
            <a:off x="10312142" y="6070448"/>
            <a:ext cx="1269968" cy="177796"/>
          </a:xfrm>
          <a:prstGeom prst="rect">
            <a:avLst/>
          </a:prstGeom>
          <a:noFill/>
          <a:ln/>
        </p:spPr>
        <p:txBody>
          <a:bodyPr wrap="square" lIns="0" tIns="0" rIns="0" bIns="0" rtlCol="0" anchor="ctr">
            <a:normAutofit/>
          </a:bodyPr>
          <a:lstStyle/>
          <a:p>
            <a:pPr algn="r" indent="0" marL="0">
              <a:buNone/>
            </a:pPr>
            <a:r>
              <a:rPr lang="en-US" sz="1000" b="1" dirty="0">
                <a:solidFill>
                  <a:srgbClr val="7F9BB0"/>
                </a:solidFill>
                <a:latin typeface="JetBrains Mono" pitchFamily="34" charset="0"/>
                <a:ea typeface="JetBrains Mono" pitchFamily="34" charset="-122"/>
                <a:cs typeface="JetBrains Mono" pitchFamily="34" charset="-120"/>
              </a:rPr>
              <a:t>03 / 06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80D"/>
        </a:solidFill>
      </p:bgPr>
    </p:bg>
    <p:spTree>
      <p:nvGrpSpPr>
        <p:cNvPr id="1" name=""/>
        <p:cNvGrpSpPr/>
        <p:nvPr/>
      </p:nvGrpSpPr>
      <p:grpSpPr>
        <a:xfrm>
          <a:off x="0" y="0"/>
          <a:ext cx="0" cy="0"/>
          <a:chOff x="0" y="0"/>
          <a:chExt cx="0" cy="0"/>
        </a:xfrm>
      </p:grpSpPr>
      <p:sp>
        <p:nvSpPr>
          <p:cNvPr id="2" name="Text 0"/>
          <p:cNvSpPr/>
          <p:nvPr/>
        </p:nvSpPr>
        <p:spPr>
          <a:xfrm>
            <a:off x="609585" y="609585"/>
            <a:ext cx="8889778" cy="533387"/>
          </a:xfrm>
          <a:prstGeom prst="rect">
            <a:avLst/>
          </a:prstGeom>
          <a:noFill/>
          <a:ln/>
        </p:spPr>
        <p:txBody>
          <a:bodyPr wrap="square" lIns="0" tIns="0" rIns="0" bIns="0" rtlCol="0" anchor="t">
            <a:normAutofit/>
          </a:bodyPr>
          <a:lstStyle/>
          <a:p>
            <a:pPr algn="l" indent="0" marL="0">
              <a:buNone/>
            </a:pPr>
            <a:r>
              <a:rPr lang="en-US" sz="3800" b="1" dirty="0">
                <a:solidFill>
                  <a:srgbClr val="EAFFF5"/>
                </a:solidFill>
                <a:latin typeface="Inter" pitchFamily="34" charset="0"/>
                <a:ea typeface="Inter" pitchFamily="34" charset="-122"/>
                <a:cs typeface="Inter" pitchFamily="34" charset="-120"/>
              </a:rPr>
              <a:t>THE PIPELINE ALREADY EXISTS</a:t>
            </a:r>
            <a:endParaRPr lang="en-US" sz="3800" dirty="0"/>
          </a:p>
        </p:txBody>
      </p:sp>
      <p:sp>
        <p:nvSpPr>
          <p:cNvPr id="3" name="Text 1"/>
          <p:cNvSpPr/>
          <p:nvPr/>
        </p:nvSpPr>
        <p:spPr>
          <a:xfrm>
            <a:off x="609585" y="1295368"/>
            <a:ext cx="8889778" cy="279393"/>
          </a:xfrm>
          <a:prstGeom prst="rect">
            <a:avLst/>
          </a:prstGeom>
          <a:noFill/>
          <a:ln/>
        </p:spPr>
        <p:txBody>
          <a:bodyPr wrap="square" lIns="0" tIns="0" rIns="0" bIns="0" rtlCol="0" anchor="t">
            <a:normAutofit/>
          </a:bodyPr>
          <a:lstStyle/>
          <a:p>
            <a:pPr algn="l" indent="0" marL="0">
              <a:buNone/>
            </a:pPr>
            <a:r>
              <a:rPr lang="en-US" sz="1700" dirty="0">
                <a:solidFill>
                  <a:srgbClr val="EAFFF5"/>
                </a:solidFill>
                <a:latin typeface="Inter" pitchFamily="34" charset="0"/>
                <a:ea typeface="Inter" pitchFamily="34" charset="-122"/>
                <a:cs typeface="Inter" pitchFamily="34" charset="-120"/>
              </a:rPr>
              <a:t>Survey verdict: “Build this. It is the product.”</a:t>
            </a:r>
            <a:endParaRPr lang="en-US" sz="1700" dirty="0"/>
          </a:p>
        </p:txBody>
      </p:sp>
      <p:sp>
        <p:nvSpPr>
          <p:cNvPr id="4" name="Shape 2"/>
          <p:cNvSpPr/>
          <p:nvPr/>
        </p:nvSpPr>
        <p:spPr>
          <a:xfrm>
            <a:off x="3225719" y="1587460"/>
            <a:ext cx="1587460" cy="0"/>
          </a:xfrm>
          <a:prstGeom prst="line">
            <a:avLst/>
          </a:prstGeom>
          <a:noFill/>
          <a:ln w="38100">
            <a:solidFill>
              <a:srgbClr val="E8FF3A"/>
            </a:solidFill>
            <a:prstDash val="solid"/>
            <a:headEnd type="none"/>
            <a:tailEnd type="none"/>
          </a:ln>
        </p:spPr>
      </p:sp>
      <p:sp>
        <p:nvSpPr>
          <p:cNvPr id="5" name="Text 3"/>
          <p:cNvSpPr/>
          <p:nvPr/>
        </p:nvSpPr>
        <p:spPr>
          <a:xfrm>
            <a:off x="609585" y="1904952"/>
            <a:ext cx="5384665" cy="355591"/>
          </a:xfrm>
          <a:prstGeom prst="rect">
            <a:avLst/>
          </a:prstGeom>
          <a:noFill/>
          <a:ln/>
        </p:spPr>
        <p:txBody>
          <a:bodyPr wrap="square" lIns="0" tIns="0" rIns="0" bIns="0" rtlCol="0" anchor="t">
            <a:normAutofit/>
          </a:bodyPr>
          <a:lstStyle/>
          <a:p>
            <a:pPr algn="l" indent="0" marL="0">
              <a:buNone/>
            </a:pPr>
            <a:r>
              <a:rPr lang="en-US" sz="2300" b="1" dirty="0">
                <a:solidFill>
                  <a:srgbClr val="2EC8FF"/>
                </a:solidFill>
                <a:latin typeface="Inter" pitchFamily="34" charset="0"/>
                <a:ea typeface="Inter" pitchFamily="34" charset="-122"/>
                <a:cs typeface="Inter" pitchFamily="34" charset="-120"/>
              </a:rPr>
              <a:t>EXISTS</a:t>
            </a:r>
            <a:endParaRPr lang="en-US" sz="2300" dirty="0"/>
          </a:p>
        </p:txBody>
      </p:sp>
      <p:sp>
        <p:nvSpPr>
          <p:cNvPr id="6" name="Shape 4"/>
          <p:cNvSpPr/>
          <p:nvPr/>
        </p:nvSpPr>
        <p:spPr>
          <a:xfrm>
            <a:off x="3022524" y="2933627"/>
            <a:ext cx="1435064" cy="501637"/>
          </a:xfrm>
          <a:prstGeom prst="line">
            <a:avLst/>
          </a:prstGeom>
          <a:noFill/>
          <a:ln w="19050">
            <a:solidFill>
              <a:srgbClr val="2EC8FF"/>
            </a:solidFill>
            <a:prstDash val="solid"/>
            <a:headEnd type="none"/>
            <a:tailEnd type="triangle"/>
          </a:ln>
        </p:spPr>
      </p:sp>
      <p:sp>
        <p:nvSpPr>
          <p:cNvPr id="7" name="Shape 5"/>
          <p:cNvSpPr/>
          <p:nvPr/>
        </p:nvSpPr>
        <p:spPr>
          <a:xfrm flipV="1">
            <a:off x="3022524" y="3701957"/>
            <a:ext cx="1435064" cy="501637"/>
          </a:xfrm>
          <a:prstGeom prst="line">
            <a:avLst/>
          </a:prstGeom>
          <a:noFill/>
          <a:ln w="19050">
            <a:solidFill>
              <a:srgbClr val="2EC8FF"/>
            </a:solidFill>
            <a:prstDash val="solid"/>
            <a:headEnd type="none"/>
            <a:tailEnd type="triangle"/>
          </a:ln>
        </p:spPr>
      </p:sp>
      <p:sp>
        <p:nvSpPr>
          <p:cNvPr id="8" name="Text 6"/>
          <p:cNvSpPr/>
          <p:nvPr/>
        </p:nvSpPr>
        <p:spPr>
          <a:xfrm>
            <a:off x="609585" y="2552636"/>
            <a:ext cx="2412940" cy="761981"/>
          </a:xfrm>
          <a:prstGeom prst="roundRect">
            <a:avLst>
              <a:gd name="adj" fmla="val 15000"/>
            </a:avLst>
          </a:prstGeom>
          <a:solidFill>
            <a:srgbClr val="0B1622"/>
          </a:solidFill>
          <a:ln w="19050">
            <a:solidFill>
              <a:srgbClr val="2EC8FF"/>
            </a:solidFill>
          </a:ln>
        </p:spPr>
        <p:txBody>
          <a:bodyPr wrap="square" lIns="0" tIns="0" rIns="0" bIns="0" rtlCol="0" anchor="ctr"/>
          <a:lstStyle/>
          <a:p>
            <a:pPr algn="ctr" indent="0" marL="0">
              <a:buNone/>
            </a:pPr>
            <a:r>
              <a:rPr lang="en-US" sz="1700" b="1" dirty="0">
                <a:solidFill>
                  <a:srgbClr val="EAFFF5"/>
                </a:solidFill>
                <a:latin typeface="JetBrains Mono" pitchFamily="34" charset="0"/>
                <a:ea typeface="JetBrains Mono" pitchFamily="34" charset="-122"/>
                <a:cs typeface="JetBrains Mono" pitchFamily="34" charset="-120"/>
              </a:rPr>
              <a:t>HyperFrames</a:t>
            </a:r>
            <a:endParaRPr lang="en-US" sz="1700" dirty="0"/>
          </a:p>
        </p:txBody>
      </p:sp>
      <p:sp>
        <p:nvSpPr>
          <p:cNvPr id="9" name="Text 7"/>
          <p:cNvSpPr/>
          <p:nvPr/>
        </p:nvSpPr>
        <p:spPr>
          <a:xfrm>
            <a:off x="609585" y="3822604"/>
            <a:ext cx="2412940" cy="761981"/>
          </a:xfrm>
          <a:prstGeom prst="roundRect">
            <a:avLst>
              <a:gd name="adj" fmla="val 15000"/>
            </a:avLst>
          </a:prstGeom>
          <a:solidFill>
            <a:srgbClr val="0B1622"/>
          </a:solidFill>
          <a:ln w="19050">
            <a:solidFill>
              <a:srgbClr val="2EC8FF"/>
            </a:solidFill>
          </a:ln>
        </p:spPr>
        <p:txBody>
          <a:bodyPr wrap="square" lIns="0" tIns="0" rIns="0" bIns="0" rtlCol="0" anchor="ctr"/>
          <a:lstStyle/>
          <a:p>
            <a:pPr algn="ctr" indent="0" marL="0">
              <a:buNone/>
            </a:pPr>
            <a:r>
              <a:rPr lang="en-US" sz="1700" b="1" dirty="0">
                <a:solidFill>
                  <a:srgbClr val="EAFFF5"/>
                </a:solidFill>
                <a:latin typeface="JetBrains Mono" pitchFamily="34" charset="0"/>
                <a:ea typeface="JetBrains Mono" pitchFamily="34" charset="-122"/>
                <a:cs typeface="JetBrains Mono" pitchFamily="34" charset="-120"/>
              </a:rPr>
              <a:t>Remotion</a:t>
            </a:r>
            <a:endParaRPr lang="en-US" sz="1700" dirty="0"/>
          </a:p>
        </p:txBody>
      </p:sp>
      <p:sp>
        <p:nvSpPr>
          <p:cNvPr id="10" name="Text 8"/>
          <p:cNvSpPr/>
          <p:nvPr/>
        </p:nvSpPr>
        <p:spPr>
          <a:xfrm>
            <a:off x="4470288" y="3124122"/>
            <a:ext cx="1523962" cy="888978"/>
          </a:xfrm>
          <a:prstGeom prst="roundRect">
            <a:avLst>
              <a:gd name="adj" fmla="val 12857"/>
            </a:avLst>
          </a:prstGeom>
          <a:solidFill>
            <a:srgbClr val="0B1622"/>
          </a:solidFill>
          <a:ln w="19050">
            <a:solidFill>
              <a:srgbClr val="2EC8FF"/>
            </a:solidFill>
          </a:ln>
        </p:spPr>
        <p:txBody>
          <a:bodyPr wrap="square" lIns="0" tIns="0" rIns="0" bIns="0" rtlCol="0" anchor="ctr"/>
          <a:lstStyle/>
          <a:p>
            <a:pPr algn="ctr" indent="0" marL="0">
              <a:buNone/>
            </a:pPr>
            <a:r>
              <a:rPr lang="en-US" sz="1700" b="1" dirty="0">
                <a:solidFill>
                  <a:srgbClr val="EAFFF5"/>
                </a:solidFill>
                <a:latin typeface="JetBrains Mono" pitchFamily="34" charset="0"/>
                <a:ea typeface="JetBrains Mono" pitchFamily="34" charset="-122"/>
                <a:cs typeface="JetBrains Mono" pitchFamily="34" charset="-120"/>
              </a:rPr>
              <a:t>MP4</a:t>
            </a:r>
            <a:endParaRPr lang="en-US" sz="1700" dirty="0"/>
          </a:p>
        </p:txBody>
      </p:sp>
      <p:sp>
        <p:nvSpPr>
          <p:cNvPr id="11" name="Text 9"/>
          <p:cNvSpPr/>
          <p:nvPr/>
        </p:nvSpPr>
        <p:spPr>
          <a:xfrm>
            <a:off x="609585" y="4851279"/>
            <a:ext cx="5384665" cy="203195"/>
          </a:xfrm>
          <a:prstGeom prst="rect">
            <a:avLst/>
          </a:prstGeom>
          <a:noFill/>
          <a:ln/>
        </p:spPr>
        <p:txBody>
          <a:bodyPr wrap="square" lIns="0" tIns="0" rIns="0" bIns="0" rtlCol="0" anchor="t">
            <a:normAutofit/>
          </a:bodyPr>
          <a:lstStyle/>
          <a:p>
            <a:pPr algn="l" indent="0" marL="0">
              <a:buNone/>
            </a:pPr>
            <a:r>
              <a:rPr lang="en-US" sz="1100" b="1" dirty="0">
                <a:solidFill>
                  <a:srgbClr val="7F9BB0"/>
                </a:solidFill>
                <a:latin typeface="JetBrains Mono" pitchFamily="34" charset="0"/>
                <a:ea typeface="JetBrains Mono" pitchFamily="34" charset="-122"/>
                <a:cs typeface="JetBrains Mono" pitchFamily="34" charset="-120"/>
              </a:rPr>
              <a:t>HyperFrames: 13 fixed presets</a:t>
            </a:r>
            <a:endParaRPr lang="en-US" sz="1100" dirty="0"/>
          </a:p>
        </p:txBody>
      </p:sp>
      <p:sp>
        <p:nvSpPr>
          <p:cNvPr id="12" name="Text 10"/>
          <p:cNvSpPr/>
          <p:nvPr/>
        </p:nvSpPr>
        <p:spPr>
          <a:xfrm>
            <a:off x="609585" y="5105272"/>
            <a:ext cx="5384665" cy="203195"/>
          </a:xfrm>
          <a:prstGeom prst="rect">
            <a:avLst/>
          </a:prstGeom>
          <a:noFill/>
          <a:ln/>
        </p:spPr>
        <p:txBody>
          <a:bodyPr wrap="square" lIns="0" tIns="0" rIns="0" bIns="0" rtlCol="0" anchor="t">
            <a:normAutofit/>
          </a:bodyPr>
          <a:lstStyle/>
          <a:p>
            <a:pPr algn="l" indent="0" marL="0">
              <a:buNone/>
            </a:pPr>
            <a:r>
              <a:rPr lang="en-US" sz="1100" b="1" dirty="0">
                <a:solidFill>
                  <a:srgbClr val="7F9BB0"/>
                </a:solidFill>
                <a:latin typeface="JetBrains Mono" pitchFamily="34" charset="0"/>
                <a:ea typeface="JetBrains Mono" pitchFamily="34" charset="-122"/>
                <a:cs typeface="JetBrains Mono" pitchFamily="34" charset="-120"/>
              </a:rPr>
              <a:t>theme-factory: 10 static themes</a:t>
            </a:r>
            <a:endParaRPr lang="en-US" sz="1100" dirty="0"/>
          </a:p>
        </p:txBody>
      </p:sp>
      <p:sp>
        <p:nvSpPr>
          <p:cNvPr id="13" name="Text 11"/>
          <p:cNvSpPr/>
          <p:nvPr/>
        </p:nvSpPr>
        <p:spPr>
          <a:xfrm>
            <a:off x="6197445" y="1904952"/>
            <a:ext cx="5384665" cy="355591"/>
          </a:xfrm>
          <a:prstGeom prst="rect">
            <a:avLst/>
          </a:prstGeom>
          <a:noFill/>
          <a:ln/>
        </p:spPr>
        <p:txBody>
          <a:bodyPr wrap="square" lIns="0" tIns="0" rIns="0" bIns="0" rtlCol="0" anchor="t">
            <a:normAutofit/>
          </a:bodyPr>
          <a:lstStyle/>
          <a:p>
            <a:pPr algn="l" indent="0" marL="0">
              <a:buNone/>
            </a:pPr>
            <a:r>
              <a:rPr lang="en-US" sz="2300" b="1" dirty="0">
                <a:solidFill>
                  <a:srgbClr val="FF5C8A"/>
                </a:solidFill>
                <a:latin typeface="Inter" pitchFamily="34" charset="0"/>
                <a:ea typeface="Inter" pitchFamily="34" charset="-122"/>
                <a:cs typeface="Inter" pitchFamily="34" charset="-120"/>
              </a:rPr>
              <a:t>MISSING</a:t>
            </a:r>
            <a:endParaRPr lang="en-US" sz="2300" dirty="0"/>
          </a:p>
        </p:txBody>
      </p:sp>
      <p:sp>
        <p:nvSpPr>
          <p:cNvPr id="14" name="Shape 12"/>
          <p:cNvSpPr/>
          <p:nvPr/>
        </p:nvSpPr>
        <p:spPr>
          <a:xfrm>
            <a:off x="6197445" y="2463738"/>
            <a:ext cx="5384665" cy="2844729"/>
          </a:xfrm>
          <a:prstGeom prst="roundRect">
            <a:avLst>
              <a:gd name="adj" fmla="val 6696"/>
            </a:avLst>
          </a:prstGeom>
          <a:solidFill>
            <a:srgbClr val="05080D"/>
          </a:solidFill>
          <a:ln w="38100">
            <a:solidFill>
              <a:srgbClr val="E8FF3A"/>
            </a:solidFill>
            <a:prstDash val="solid"/>
          </a:ln>
        </p:spPr>
      </p:sp>
      <p:sp>
        <p:nvSpPr>
          <p:cNvPr id="15" name="Shape 13"/>
          <p:cNvSpPr/>
          <p:nvPr/>
        </p:nvSpPr>
        <p:spPr>
          <a:xfrm>
            <a:off x="6299043" y="2565336"/>
            <a:ext cx="5181470" cy="2641534"/>
          </a:xfrm>
          <a:prstGeom prst="roundRect">
            <a:avLst>
              <a:gd name="adj" fmla="val 4327"/>
            </a:avLst>
          </a:prstGeom>
          <a:solidFill>
            <a:srgbClr val="05080D"/>
          </a:solidFill>
          <a:ln w="19050">
            <a:solidFill>
              <a:srgbClr val="FF5C8A"/>
            </a:solidFill>
            <a:prstDash val="solid"/>
          </a:ln>
        </p:spPr>
      </p:sp>
      <p:sp>
        <p:nvSpPr>
          <p:cNvPr id="16" name="Text 14"/>
          <p:cNvSpPr/>
          <p:nvPr/>
        </p:nvSpPr>
        <p:spPr>
          <a:xfrm>
            <a:off x="6299043" y="3555911"/>
            <a:ext cx="5181470" cy="279393"/>
          </a:xfrm>
          <a:prstGeom prst="rect">
            <a:avLst/>
          </a:prstGeom>
          <a:noFill/>
          <a:ln/>
        </p:spPr>
        <p:txBody>
          <a:bodyPr wrap="square" lIns="0" tIns="0" rIns="0" bIns="0" rtlCol="0" anchor="ctr">
            <a:normAutofit/>
          </a:bodyPr>
          <a:lstStyle/>
          <a:p>
            <a:pPr algn="ctr" indent="0" marL="0">
              <a:buNone/>
            </a:pPr>
            <a:r>
              <a:rPr lang="en-US" sz="1500" b="1" dirty="0">
                <a:solidFill>
                  <a:srgbClr val="EAFFF5"/>
                </a:solidFill>
                <a:latin typeface="JetBrains Mono" pitchFamily="34" charset="0"/>
                <a:ea typeface="JetBrains Mono" pitchFamily="34" charset="-122"/>
                <a:cs typeface="JetBrains Mono" pitchFamily="34" charset="-120"/>
              </a:rPr>
              <a:t>style loop</a:t>
            </a:r>
            <a:endParaRPr lang="en-US" sz="1500" dirty="0"/>
          </a:p>
        </p:txBody>
      </p:sp>
      <p:sp>
        <p:nvSpPr>
          <p:cNvPr id="17" name="Text 15"/>
          <p:cNvSpPr/>
          <p:nvPr/>
        </p:nvSpPr>
        <p:spPr>
          <a:xfrm>
            <a:off x="6299043" y="3936902"/>
            <a:ext cx="5181470" cy="203195"/>
          </a:xfrm>
          <a:prstGeom prst="rect">
            <a:avLst/>
          </a:prstGeom>
          <a:noFill/>
          <a:ln/>
        </p:spPr>
        <p:txBody>
          <a:bodyPr wrap="square" lIns="0" tIns="0" rIns="0" bIns="0" rtlCol="0" anchor="ctr">
            <a:normAutofit/>
          </a:bodyPr>
          <a:lstStyle/>
          <a:p>
            <a:pPr algn="ctr" indent="0" marL="0">
              <a:buNone/>
            </a:pPr>
            <a:r>
              <a:rPr lang="en-US" sz="1100" b="1" dirty="0">
                <a:solidFill>
                  <a:srgbClr val="7F9BB0"/>
                </a:solidFill>
                <a:latin typeface="JetBrains Mono" pitchFamily="34" charset="0"/>
                <a:ea typeface="JetBrains Mono" pitchFamily="34" charset="-122"/>
                <a:cs typeface="JetBrains Mono" pitchFamily="34" charset="-120"/>
              </a:rPr>
              <a:t>describe · sample · comment · re-render · save</a:t>
            </a:r>
            <a:endParaRPr lang="en-US" sz="1100" dirty="0"/>
          </a:p>
        </p:txBody>
      </p:sp>
      <p:sp>
        <p:nvSpPr>
          <p:cNvPr id="18" name="Text 16"/>
          <p:cNvSpPr/>
          <p:nvPr/>
        </p:nvSpPr>
        <p:spPr>
          <a:xfrm>
            <a:off x="10312142" y="6070448"/>
            <a:ext cx="1269968" cy="177796"/>
          </a:xfrm>
          <a:prstGeom prst="rect">
            <a:avLst/>
          </a:prstGeom>
          <a:noFill/>
          <a:ln/>
        </p:spPr>
        <p:txBody>
          <a:bodyPr wrap="square" lIns="0" tIns="0" rIns="0" bIns="0" rtlCol="0" anchor="t">
            <a:normAutofit/>
          </a:bodyPr>
          <a:lstStyle/>
          <a:p>
            <a:pPr algn="r" indent="0" marL="0">
              <a:buNone/>
            </a:pPr>
            <a:r>
              <a:rPr lang="en-US" sz="1000" b="1" dirty="0">
                <a:solidFill>
                  <a:srgbClr val="7F9BB0"/>
                </a:solidFill>
                <a:latin typeface="JetBrains Mono" pitchFamily="34" charset="0"/>
                <a:ea typeface="JetBrains Mono" pitchFamily="34" charset="-122"/>
                <a:cs typeface="JetBrains Mono" pitchFamily="34" charset="-120"/>
              </a:rPr>
              <a:t>04 / 06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80D"/>
        </a:solidFill>
      </p:bgPr>
    </p:bg>
    <p:spTree>
      <p:nvGrpSpPr>
        <p:cNvPr id="1" name=""/>
        <p:cNvGrpSpPr/>
        <p:nvPr/>
      </p:nvGrpSpPr>
      <p:grpSpPr>
        <a:xfrm>
          <a:off x="0" y="0"/>
          <a:ext cx="0" cy="0"/>
          <a:chOff x="0" y="0"/>
          <a:chExt cx="0" cy="0"/>
        </a:xfrm>
      </p:grpSpPr>
      <p:sp>
        <p:nvSpPr>
          <p:cNvPr id="2" name="Text 0"/>
          <p:cNvSpPr/>
          <p:nvPr/>
        </p:nvSpPr>
        <p:spPr>
          <a:xfrm>
            <a:off x="609585" y="609585"/>
            <a:ext cx="8889778" cy="533387"/>
          </a:xfrm>
          <a:prstGeom prst="rect">
            <a:avLst/>
          </a:prstGeom>
          <a:noFill/>
          <a:ln/>
        </p:spPr>
        <p:txBody>
          <a:bodyPr wrap="square" lIns="0" tIns="0" rIns="0" bIns="0" rtlCol="0" anchor="t">
            <a:normAutofit/>
          </a:bodyPr>
          <a:lstStyle/>
          <a:p>
            <a:pPr algn="l" indent="0" marL="0">
              <a:buNone/>
            </a:pPr>
            <a:r>
              <a:rPr lang="en-US" sz="3800" b="1" dirty="0">
                <a:solidFill>
                  <a:srgbClr val="EAFFF5"/>
                </a:solidFill>
                <a:latin typeface="Inter" pitchFamily="34" charset="0"/>
                <a:ea typeface="Inter" pitchFamily="34" charset="-122"/>
                <a:cs typeface="Inter" pitchFamily="34" charset="-120"/>
              </a:rPr>
              <a:t>THE STYLE LOOP</a:t>
            </a:r>
            <a:endParaRPr lang="en-US" sz="3800" dirty="0"/>
          </a:p>
        </p:txBody>
      </p:sp>
      <p:sp>
        <p:nvSpPr>
          <p:cNvPr id="3" name="Text 1"/>
          <p:cNvSpPr/>
          <p:nvPr/>
        </p:nvSpPr>
        <p:spPr>
          <a:xfrm>
            <a:off x="609585" y="1295368"/>
            <a:ext cx="8889778" cy="279393"/>
          </a:xfrm>
          <a:prstGeom prst="rect">
            <a:avLst/>
          </a:prstGeom>
          <a:noFill/>
          <a:ln/>
        </p:spPr>
        <p:txBody>
          <a:bodyPr wrap="square" lIns="0" tIns="0" rIns="0" bIns="0" rtlCol="0" anchor="t">
            <a:normAutofit/>
          </a:bodyPr>
          <a:lstStyle/>
          <a:p>
            <a:pPr algn="l" indent="0" marL="0">
              <a:buNone/>
            </a:pPr>
            <a:r>
              <a:rPr lang="en-US" sz="1700" dirty="0">
                <a:solidFill>
                  <a:srgbClr val="EAFFF5"/>
                </a:solidFill>
                <a:latin typeface="Inter" pitchFamily="34" charset="0"/>
                <a:ea typeface="Inter" pitchFamily="34" charset="-122"/>
                <a:cs typeface="Inter" pitchFamily="34" charset="-120"/>
              </a:rPr>
              <a:t>Each round refines the style prompt.</a:t>
            </a:r>
            <a:endParaRPr lang="en-US" sz="1700" dirty="0"/>
          </a:p>
        </p:txBody>
      </p:sp>
      <p:sp>
        <p:nvSpPr>
          <p:cNvPr id="4" name="Shape 2"/>
          <p:cNvSpPr/>
          <p:nvPr/>
        </p:nvSpPr>
        <p:spPr>
          <a:xfrm>
            <a:off x="7115632" y="2429449"/>
            <a:ext cx="342256" cy="313682"/>
          </a:xfrm>
          <a:prstGeom prst="line">
            <a:avLst/>
          </a:prstGeom>
          <a:noFill/>
          <a:ln w="19050">
            <a:solidFill>
              <a:srgbClr val="2EC8FF"/>
            </a:solidFill>
            <a:prstDash val="solid"/>
            <a:headEnd type="none"/>
            <a:tailEnd type="none"/>
          </a:ln>
        </p:spPr>
      </p:sp>
      <p:sp>
        <p:nvSpPr>
          <p:cNvPr id="5" name="Shape 3"/>
          <p:cNvSpPr/>
          <p:nvPr/>
        </p:nvSpPr>
        <p:spPr>
          <a:xfrm>
            <a:off x="7457889" y="2743131"/>
            <a:ext cx="249549" cy="391785"/>
          </a:xfrm>
          <a:prstGeom prst="line">
            <a:avLst/>
          </a:prstGeom>
          <a:noFill/>
          <a:ln w="19050">
            <a:solidFill>
              <a:srgbClr val="2EC8FF"/>
            </a:solidFill>
            <a:prstDash val="solid"/>
            <a:headEnd type="none"/>
            <a:tailEnd type="none"/>
          </a:ln>
        </p:spPr>
      </p:sp>
      <p:sp>
        <p:nvSpPr>
          <p:cNvPr id="6" name="Shape 4"/>
          <p:cNvSpPr/>
          <p:nvPr/>
        </p:nvSpPr>
        <p:spPr>
          <a:xfrm>
            <a:off x="7707437" y="3134917"/>
            <a:ext cx="136522" cy="427344"/>
          </a:xfrm>
          <a:prstGeom prst="line">
            <a:avLst/>
          </a:prstGeom>
          <a:noFill/>
          <a:ln w="19050">
            <a:solidFill>
              <a:srgbClr val="2EC8FF"/>
            </a:solidFill>
            <a:prstDash val="solid"/>
            <a:headEnd type="none"/>
            <a:tailEnd type="triangle"/>
          </a:ln>
        </p:spPr>
      </p:sp>
      <p:sp>
        <p:nvSpPr>
          <p:cNvPr id="7" name="Shape 5"/>
          <p:cNvSpPr/>
          <p:nvPr/>
        </p:nvSpPr>
        <p:spPr>
          <a:xfrm flipH="1">
            <a:off x="7707437" y="4209945"/>
            <a:ext cx="136522" cy="427344"/>
          </a:xfrm>
          <a:prstGeom prst="line">
            <a:avLst/>
          </a:prstGeom>
          <a:noFill/>
          <a:ln w="19050">
            <a:solidFill>
              <a:srgbClr val="2EC8FF"/>
            </a:solidFill>
            <a:prstDash val="solid"/>
            <a:headEnd type="none"/>
            <a:tailEnd type="none"/>
          </a:ln>
        </p:spPr>
      </p:sp>
      <p:sp>
        <p:nvSpPr>
          <p:cNvPr id="8" name="Shape 6"/>
          <p:cNvSpPr/>
          <p:nvPr/>
        </p:nvSpPr>
        <p:spPr>
          <a:xfrm flipH="1">
            <a:off x="7457889" y="4637289"/>
            <a:ext cx="249549" cy="391785"/>
          </a:xfrm>
          <a:prstGeom prst="line">
            <a:avLst/>
          </a:prstGeom>
          <a:noFill/>
          <a:ln w="19050">
            <a:solidFill>
              <a:srgbClr val="2EC8FF"/>
            </a:solidFill>
            <a:prstDash val="solid"/>
            <a:headEnd type="none"/>
            <a:tailEnd type="none"/>
          </a:ln>
        </p:spPr>
      </p:sp>
      <p:sp>
        <p:nvSpPr>
          <p:cNvPr id="9" name="Shape 7"/>
          <p:cNvSpPr/>
          <p:nvPr/>
        </p:nvSpPr>
        <p:spPr>
          <a:xfrm flipH="1">
            <a:off x="7115632" y="5029074"/>
            <a:ext cx="342256" cy="313682"/>
          </a:xfrm>
          <a:prstGeom prst="line">
            <a:avLst/>
          </a:prstGeom>
          <a:noFill/>
          <a:ln w="19050">
            <a:solidFill>
              <a:srgbClr val="2EC8FF"/>
            </a:solidFill>
            <a:prstDash val="solid"/>
            <a:headEnd type="none"/>
            <a:tailEnd type="triangle"/>
          </a:ln>
        </p:spPr>
      </p:sp>
      <p:sp>
        <p:nvSpPr>
          <p:cNvPr id="10" name="Shape 8"/>
          <p:cNvSpPr/>
          <p:nvPr/>
        </p:nvSpPr>
        <p:spPr>
          <a:xfrm flipH="1" flipV="1">
            <a:off x="4733807" y="5029074"/>
            <a:ext cx="342256" cy="313682"/>
          </a:xfrm>
          <a:prstGeom prst="line">
            <a:avLst/>
          </a:prstGeom>
          <a:noFill/>
          <a:ln w="19050">
            <a:solidFill>
              <a:srgbClr val="2EC8FF"/>
            </a:solidFill>
            <a:prstDash val="solid"/>
            <a:headEnd type="none"/>
            <a:tailEnd type="none"/>
          </a:ln>
        </p:spPr>
      </p:sp>
      <p:sp>
        <p:nvSpPr>
          <p:cNvPr id="11" name="Shape 9"/>
          <p:cNvSpPr/>
          <p:nvPr/>
        </p:nvSpPr>
        <p:spPr>
          <a:xfrm flipH="1" flipV="1">
            <a:off x="4484258" y="4637289"/>
            <a:ext cx="249549" cy="391785"/>
          </a:xfrm>
          <a:prstGeom prst="line">
            <a:avLst/>
          </a:prstGeom>
          <a:noFill/>
          <a:ln w="19050">
            <a:solidFill>
              <a:srgbClr val="2EC8FF"/>
            </a:solidFill>
            <a:prstDash val="solid"/>
            <a:headEnd type="none"/>
            <a:tailEnd type="none"/>
          </a:ln>
        </p:spPr>
      </p:sp>
      <p:sp>
        <p:nvSpPr>
          <p:cNvPr id="12" name="Shape 10"/>
          <p:cNvSpPr/>
          <p:nvPr/>
        </p:nvSpPr>
        <p:spPr>
          <a:xfrm flipH="1" flipV="1">
            <a:off x="4347736" y="4209945"/>
            <a:ext cx="136522" cy="427344"/>
          </a:xfrm>
          <a:prstGeom prst="line">
            <a:avLst/>
          </a:prstGeom>
          <a:noFill/>
          <a:ln w="19050">
            <a:solidFill>
              <a:srgbClr val="2EC8FF"/>
            </a:solidFill>
            <a:prstDash val="solid"/>
            <a:headEnd type="none"/>
            <a:tailEnd type="triangle"/>
          </a:ln>
        </p:spPr>
      </p:sp>
      <p:sp>
        <p:nvSpPr>
          <p:cNvPr id="13" name="Shape 11"/>
          <p:cNvSpPr/>
          <p:nvPr/>
        </p:nvSpPr>
        <p:spPr>
          <a:xfrm flipV="1">
            <a:off x="4347736" y="3134917"/>
            <a:ext cx="136522" cy="427344"/>
          </a:xfrm>
          <a:prstGeom prst="line">
            <a:avLst/>
          </a:prstGeom>
          <a:noFill/>
          <a:ln w="19050">
            <a:solidFill>
              <a:srgbClr val="2EC8FF"/>
            </a:solidFill>
            <a:prstDash val="solid"/>
            <a:headEnd type="none"/>
            <a:tailEnd type="none"/>
          </a:ln>
        </p:spPr>
      </p:sp>
      <p:sp>
        <p:nvSpPr>
          <p:cNvPr id="14" name="Shape 12"/>
          <p:cNvSpPr/>
          <p:nvPr/>
        </p:nvSpPr>
        <p:spPr>
          <a:xfrm flipV="1">
            <a:off x="4484258" y="2743131"/>
            <a:ext cx="249549" cy="391785"/>
          </a:xfrm>
          <a:prstGeom prst="line">
            <a:avLst/>
          </a:prstGeom>
          <a:noFill/>
          <a:ln w="19050">
            <a:solidFill>
              <a:srgbClr val="2EC8FF"/>
            </a:solidFill>
            <a:prstDash val="solid"/>
            <a:headEnd type="none"/>
            <a:tailEnd type="none"/>
          </a:ln>
        </p:spPr>
      </p:sp>
      <p:sp>
        <p:nvSpPr>
          <p:cNvPr id="15" name="Shape 13"/>
          <p:cNvSpPr/>
          <p:nvPr/>
        </p:nvSpPr>
        <p:spPr>
          <a:xfrm flipV="1">
            <a:off x="4733807" y="2429449"/>
            <a:ext cx="342256" cy="313682"/>
          </a:xfrm>
          <a:prstGeom prst="line">
            <a:avLst/>
          </a:prstGeom>
          <a:noFill/>
          <a:ln w="19050">
            <a:solidFill>
              <a:srgbClr val="2EC8FF"/>
            </a:solidFill>
            <a:prstDash val="solid"/>
            <a:headEnd type="none"/>
            <a:tailEnd type="triangle"/>
          </a:ln>
        </p:spPr>
      </p:sp>
      <p:sp>
        <p:nvSpPr>
          <p:cNvPr id="16" name="Shape 14"/>
          <p:cNvSpPr/>
          <p:nvPr/>
        </p:nvSpPr>
        <p:spPr>
          <a:xfrm>
            <a:off x="5308467" y="3975001"/>
            <a:ext cx="406390" cy="279393"/>
          </a:xfrm>
          <a:prstGeom prst="line">
            <a:avLst/>
          </a:prstGeom>
          <a:noFill/>
          <a:ln w="38100">
            <a:solidFill>
              <a:srgbClr val="E8FF3A"/>
            </a:solidFill>
            <a:prstDash val="solid"/>
            <a:headEnd type="none"/>
            <a:tailEnd type="none"/>
          </a:ln>
        </p:spPr>
      </p:sp>
      <p:sp>
        <p:nvSpPr>
          <p:cNvPr id="17" name="Shape 15"/>
          <p:cNvSpPr/>
          <p:nvPr/>
        </p:nvSpPr>
        <p:spPr>
          <a:xfrm>
            <a:off x="5714857" y="4254394"/>
            <a:ext cx="76198" cy="520687"/>
          </a:xfrm>
          <a:prstGeom prst="line">
            <a:avLst/>
          </a:prstGeom>
          <a:noFill/>
          <a:ln w="38100">
            <a:solidFill>
              <a:srgbClr val="E8FF3A"/>
            </a:solidFill>
            <a:prstDash val="solid"/>
            <a:headEnd type="none"/>
            <a:tailEnd type="none"/>
          </a:ln>
        </p:spPr>
      </p:sp>
      <p:sp>
        <p:nvSpPr>
          <p:cNvPr id="18" name="Shape 16"/>
          <p:cNvSpPr/>
          <p:nvPr/>
        </p:nvSpPr>
        <p:spPr>
          <a:xfrm flipH="1">
            <a:off x="5600560" y="4775081"/>
            <a:ext cx="190495" cy="546086"/>
          </a:xfrm>
          <a:prstGeom prst="line">
            <a:avLst/>
          </a:prstGeom>
          <a:noFill/>
          <a:ln w="38100">
            <a:solidFill>
              <a:srgbClr val="E8FF3A"/>
            </a:solidFill>
            <a:prstDash val="solid"/>
            <a:headEnd type="none"/>
            <a:tailEnd type="triangle"/>
          </a:ln>
        </p:spPr>
      </p:sp>
      <p:sp>
        <p:nvSpPr>
          <p:cNvPr id="19" name="Shape 17"/>
          <p:cNvSpPr/>
          <p:nvPr/>
        </p:nvSpPr>
        <p:spPr>
          <a:xfrm flipH="1">
            <a:off x="1841454" y="3886103"/>
            <a:ext cx="1523962" cy="0"/>
          </a:xfrm>
          <a:prstGeom prst="line">
            <a:avLst/>
          </a:prstGeom>
          <a:noFill/>
          <a:ln w="19050">
            <a:solidFill>
              <a:srgbClr val="39FF9C"/>
            </a:solidFill>
            <a:prstDash val="solid"/>
            <a:headEnd type="none"/>
            <a:tailEnd type="none"/>
          </a:ln>
        </p:spPr>
      </p:sp>
      <p:sp>
        <p:nvSpPr>
          <p:cNvPr id="20" name="Shape 18"/>
          <p:cNvSpPr/>
          <p:nvPr/>
        </p:nvSpPr>
        <p:spPr>
          <a:xfrm>
            <a:off x="1841454" y="3886103"/>
            <a:ext cx="0" cy="965176"/>
          </a:xfrm>
          <a:prstGeom prst="line">
            <a:avLst/>
          </a:prstGeom>
          <a:noFill/>
          <a:ln w="19050">
            <a:solidFill>
              <a:srgbClr val="39FF9C"/>
            </a:solidFill>
            <a:prstDash val="solid"/>
            <a:headEnd type="none"/>
            <a:tailEnd type="triangle"/>
          </a:ln>
        </p:spPr>
      </p:sp>
      <p:sp>
        <p:nvSpPr>
          <p:cNvPr id="21" name="Text 19"/>
          <p:cNvSpPr/>
          <p:nvPr/>
        </p:nvSpPr>
        <p:spPr>
          <a:xfrm>
            <a:off x="5079873" y="3276518"/>
            <a:ext cx="2031949" cy="203195"/>
          </a:xfrm>
          <a:prstGeom prst="rect">
            <a:avLst/>
          </a:prstGeom>
          <a:noFill/>
          <a:ln/>
        </p:spPr>
        <p:txBody>
          <a:bodyPr wrap="square" lIns="0" tIns="0" rIns="0" bIns="0" rtlCol="0" anchor="ctr">
            <a:normAutofit/>
          </a:bodyPr>
          <a:lstStyle/>
          <a:p>
            <a:pPr algn="ctr" indent="0" marL="0">
              <a:buNone/>
            </a:pPr>
            <a:r>
              <a:rPr lang="en-US" sz="1100" b="1" dirty="0">
                <a:solidFill>
                  <a:srgbClr val="2EC8FF"/>
                </a:solidFill>
                <a:latin typeface="JetBrains Mono" pitchFamily="34" charset="0"/>
                <a:ea typeface="JetBrains Mono" pitchFamily="34" charset="-122"/>
                <a:cs typeface="JetBrains Mono" pitchFamily="34" charset="-120"/>
              </a:rPr>
              <a:t>claude -p, headless</a:t>
            </a:r>
            <a:endParaRPr lang="en-US" sz="1100" dirty="0"/>
          </a:p>
        </p:txBody>
      </p:sp>
      <p:sp>
        <p:nvSpPr>
          <p:cNvPr id="22" name="Shape 20"/>
          <p:cNvSpPr/>
          <p:nvPr/>
        </p:nvSpPr>
        <p:spPr>
          <a:xfrm>
            <a:off x="4317892" y="1828754"/>
            <a:ext cx="3555911" cy="558786"/>
          </a:xfrm>
          <a:prstGeom prst="roundRect">
            <a:avLst>
              <a:gd name="adj" fmla="val 20455"/>
            </a:avLst>
          </a:prstGeom>
          <a:solidFill>
            <a:srgbClr val="0F2233"/>
          </a:solidFill>
          <a:ln w="19050">
            <a:solidFill>
              <a:srgbClr val="2EC8FF"/>
            </a:solidFill>
            <a:prstDash val="solid"/>
          </a:ln>
        </p:spPr>
      </p:sp>
      <p:sp>
        <p:nvSpPr>
          <p:cNvPr id="23" name="Text 21"/>
          <p:cNvSpPr/>
          <p:nvPr/>
        </p:nvSpPr>
        <p:spPr>
          <a:xfrm>
            <a:off x="4317892" y="1892253"/>
            <a:ext cx="3555911" cy="253994"/>
          </a:xfrm>
          <a:prstGeom prst="rect">
            <a:avLst/>
          </a:prstGeom>
          <a:noFill/>
          <a:ln/>
        </p:spPr>
        <p:txBody>
          <a:bodyPr wrap="square" lIns="0" tIns="0" rIns="0" bIns="0" rtlCol="0" anchor="ctr">
            <a:normAutofit/>
          </a:bodyPr>
          <a:lstStyle/>
          <a:p>
            <a:pPr algn="ctr" indent="0" marL="0">
              <a:buNone/>
            </a:pPr>
            <a:r>
              <a:rPr lang="en-US" sz="1700" b="1" dirty="0">
                <a:solidFill>
                  <a:srgbClr val="EAFFF5"/>
                </a:solidFill>
                <a:latin typeface="Inter" pitchFamily="34" charset="0"/>
                <a:ea typeface="Inter" pitchFamily="34" charset="-122"/>
                <a:cs typeface="Inter" pitchFamily="34" charset="-120"/>
              </a:rPr>
              <a:t>DESCRIBE</a:t>
            </a:r>
            <a:endParaRPr lang="en-US" sz="1700" dirty="0"/>
          </a:p>
        </p:txBody>
      </p:sp>
      <p:sp>
        <p:nvSpPr>
          <p:cNvPr id="24" name="Text 22"/>
          <p:cNvSpPr/>
          <p:nvPr/>
        </p:nvSpPr>
        <p:spPr>
          <a:xfrm>
            <a:off x="4317892" y="2146246"/>
            <a:ext cx="3555911" cy="177796"/>
          </a:xfrm>
          <a:prstGeom prst="rect">
            <a:avLst/>
          </a:prstGeom>
          <a:noFill/>
          <a:ln/>
        </p:spPr>
        <p:txBody>
          <a:bodyPr wrap="square" lIns="0" tIns="0" rIns="0" bIns="0" rtlCol="0" anchor="ctr">
            <a:normAutofit/>
          </a:bodyPr>
          <a:lstStyle/>
          <a:p>
            <a:pPr algn="ctr" indent="0" marL="0">
              <a:buNone/>
            </a:pPr>
            <a:r>
              <a:rPr lang="en-US" sz="1100" b="1" dirty="0">
                <a:solidFill>
                  <a:srgbClr val="7F9BB0"/>
                </a:solidFill>
                <a:latin typeface="JetBrains Mono" pitchFamily="34" charset="0"/>
                <a:ea typeface="JetBrains Mono" pitchFamily="34" charset="-122"/>
                <a:cs typeface="JetBrains Mono" pitchFamily="34" charset="-120"/>
              </a:rPr>
              <a:t>neon, smooth camera, room for humour</a:t>
            </a:r>
            <a:endParaRPr lang="en-US" sz="1100" dirty="0"/>
          </a:p>
        </p:txBody>
      </p:sp>
      <p:sp>
        <p:nvSpPr>
          <p:cNvPr id="25" name="Shape 23"/>
          <p:cNvSpPr/>
          <p:nvPr/>
        </p:nvSpPr>
        <p:spPr>
          <a:xfrm>
            <a:off x="7048324" y="3606710"/>
            <a:ext cx="1650959" cy="558786"/>
          </a:xfrm>
          <a:prstGeom prst="roundRect">
            <a:avLst>
              <a:gd name="adj" fmla="val 20455"/>
            </a:avLst>
          </a:prstGeom>
          <a:solidFill>
            <a:srgbClr val="0F2233"/>
          </a:solidFill>
          <a:ln w="19050">
            <a:solidFill>
              <a:srgbClr val="2EC8FF"/>
            </a:solidFill>
            <a:prstDash val="solid"/>
          </a:ln>
        </p:spPr>
      </p:sp>
      <p:sp>
        <p:nvSpPr>
          <p:cNvPr id="26" name="Text 24"/>
          <p:cNvSpPr/>
          <p:nvPr/>
        </p:nvSpPr>
        <p:spPr>
          <a:xfrm>
            <a:off x="7048324" y="3670208"/>
            <a:ext cx="1650959" cy="253994"/>
          </a:xfrm>
          <a:prstGeom prst="rect">
            <a:avLst/>
          </a:prstGeom>
          <a:noFill/>
          <a:ln/>
        </p:spPr>
        <p:txBody>
          <a:bodyPr wrap="square" lIns="0" tIns="0" rIns="0" bIns="0" rtlCol="0" anchor="ctr">
            <a:normAutofit/>
          </a:bodyPr>
          <a:lstStyle/>
          <a:p>
            <a:pPr algn="ctr" indent="0" marL="0">
              <a:buNone/>
            </a:pPr>
            <a:r>
              <a:rPr lang="en-US" sz="1700" b="1" dirty="0">
                <a:solidFill>
                  <a:srgbClr val="EAFFF5"/>
                </a:solidFill>
                <a:latin typeface="Inter" pitchFamily="34" charset="0"/>
                <a:ea typeface="Inter" pitchFamily="34" charset="-122"/>
                <a:cs typeface="Inter" pitchFamily="34" charset="-120"/>
              </a:rPr>
              <a:t>SAMPLE</a:t>
            </a:r>
            <a:endParaRPr lang="en-US" sz="1700" dirty="0"/>
          </a:p>
        </p:txBody>
      </p:sp>
      <p:sp>
        <p:nvSpPr>
          <p:cNvPr id="27" name="Text 25"/>
          <p:cNvSpPr/>
          <p:nvPr/>
        </p:nvSpPr>
        <p:spPr>
          <a:xfrm>
            <a:off x="7048324" y="3924202"/>
            <a:ext cx="1650959" cy="177796"/>
          </a:xfrm>
          <a:prstGeom prst="rect">
            <a:avLst/>
          </a:prstGeom>
          <a:noFill/>
          <a:ln/>
        </p:spPr>
        <p:txBody>
          <a:bodyPr wrap="square" lIns="0" tIns="0" rIns="0" bIns="0" rtlCol="0" anchor="ctr">
            <a:normAutofit/>
          </a:bodyPr>
          <a:lstStyle/>
          <a:p>
            <a:pPr algn="ctr" indent="0" marL="0">
              <a:buNone/>
            </a:pPr>
            <a:r>
              <a:rPr lang="en-US" sz="1100" b="1" dirty="0">
                <a:solidFill>
                  <a:srgbClr val="7F9BB0"/>
                </a:solidFill>
                <a:latin typeface="JetBrains Mono" pitchFamily="34" charset="0"/>
                <a:ea typeface="JetBrains Mono" pitchFamily="34" charset="-122"/>
                <a:cs typeface="JetBrains Mono" pitchFamily="34" charset="-120"/>
              </a:rPr>
              <a:t>~10 s render</a:t>
            </a:r>
            <a:endParaRPr lang="en-US" sz="1100" dirty="0"/>
          </a:p>
        </p:txBody>
      </p:sp>
      <p:sp>
        <p:nvSpPr>
          <p:cNvPr id="28" name="Shape 26"/>
          <p:cNvSpPr/>
          <p:nvPr/>
        </p:nvSpPr>
        <p:spPr>
          <a:xfrm>
            <a:off x="4952876" y="5384665"/>
            <a:ext cx="2285943" cy="558786"/>
          </a:xfrm>
          <a:prstGeom prst="roundRect">
            <a:avLst>
              <a:gd name="adj" fmla="val 20455"/>
            </a:avLst>
          </a:prstGeom>
          <a:solidFill>
            <a:srgbClr val="0F2233"/>
          </a:solidFill>
          <a:ln w="19050">
            <a:solidFill>
              <a:srgbClr val="2EC8FF"/>
            </a:solidFill>
            <a:prstDash val="solid"/>
          </a:ln>
        </p:spPr>
      </p:sp>
      <p:sp>
        <p:nvSpPr>
          <p:cNvPr id="29" name="Text 27"/>
          <p:cNvSpPr/>
          <p:nvPr/>
        </p:nvSpPr>
        <p:spPr>
          <a:xfrm>
            <a:off x="4952876" y="5448164"/>
            <a:ext cx="2285943" cy="253994"/>
          </a:xfrm>
          <a:prstGeom prst="rect">
            <a:avLst/>
          </a:prstGeom>
          <a:noFill/>
          <a:ln/>
        </p:spPr>
        <p:txBody>
          <a:bodyPr wrap="square" lIns="0" tIns="0" rIns="0" bIns="0" rtlCol="0" anchor="ctr">
            <a:normAutofit/>
          </a:bodyPr>
          <a:lstStyle/>
          <a:p>
            <a:pPr algn="ctr" indent="0" marL="0">
              <a:buNone/>
            </a:pPr>
            <a:r>
              <a:rPr lang="en-US" sz="1700" b="1" dirty="0">
                <a:solidFill>
                  <a:srgbClr val="EAFFF5"/>
                </a:solidFill>
                <a:latin typeface="Inter" pitchFamily="34" charset="0"/>
                <a:ea typeface="Inter" pitchFamily="34" charset="-122"/>
                <a:cs typeface="Inter" pitchFamily="34" charset="-120"/>
              </a:rPr>
              <a:t>COMMENT</a:t>
            </a:r>
            <a:endParaRPr lang="en-US" sz="1700" dirty="0"/>
          </a:p>
        </p:txBody>
      </p:sp>
      <p:sp>
        <p:nvSpPr>
          <p:cNvPr id="30" name="Text 28"/>
          <p:cNvSpPr/>
          <p:nvPr/>
        </p:nvSpPr>
        <p:spPr>
          <a:xfrm>
            <a:off x="4952876" y="5702157"/>
            <a:ext cx="2285943" cy="177796"/>
          </a:xfrm>
          <a:prstGeom prst="rect">
            <a:avLst/>
          </a:prstGeom>
          <a:noFill/>
          <a:ln/>
        </p:spPr>
        <p:txBody>
          <a:bodyPr wrap="square" lIns="0" tIns="0" rIns="0" bIns="0" rtlCol="0" anchor="ctr">
            <a:normAutofit/>
          </a:bodyPr>
          <a:lstStyle/>
          <a:p>
            <a:pPr algn="ctr" indent="0" marL="0">
              <a:buNone/>
            </a:pPr>
            <a:r>
              <a:rPr lang="en-US" sz="1100" b="1" dirty="0">
                <a:solidFill>
                  <a:srgbClr val="7F9BB0"/>
                </a:solidFill>
                <a:latin typeface="JetBrains Mono" pitchFamily="34" charset="0"/>
                <a:ea typeface="JetBrains Mono" pitchFamily="34" charset="-122"/>
                <a:cs typeface="JetBrains Mono" pitchFamily="34" charset="-120"/>
              </a:rPr>
              <a:t>"contrast too low"</a:t>
            </a:r>
            <a:endParaRPr lang="en-US" sz="1100" dirty="0"/>
          </a:p>
        </p:txBody>
      </p:sp>
      <p:sp>
        <p:nvSpPr>
          <p:cNvPr id="31" name="Shape 29"/>
          <p:cNvSpPr/>
          <p:nvPr/>
        </p:nvSpPr>
        <p:spPr>
          <a:xfrm>
            <a:off x="3365416" y="3606710"/>
            <a:ext cx="1904952" cy="558786"/>
          </a:xfrm>
          <a:prstGeom prst="roundRect">
            <a:avLst>
              <a:gd name="adj" fmla="val 20455"/>
            </a:avLst>
          </a:prstGeom>
          <a:solidFill>
            <a:srgbClr val="0F2233"/>
          </a:solidFill>
          <a:ln w="19050">
            <a:solidFill>
              <a:srgbClr val="2EC8FF"/>
            </a:solidFill>
            <a:prstDash val="solid"/>
          </a:ln>
        </p:spPr>
      </p:sp>
      <p:sp>
        <p:nvSpPr>
          <p:cNvPr id="32" name="Text 30"/>
          <p:cNvSpPr/>
          <p:nvPr/>
        </p:nvSpPr>
        <p:spPr>
          <a:xfrm>
            <a:off x="3365416" y="3670208"/>
            <a:ext cx="1904952" cy="253994"/>
          </a:xfrm>
          <a:prstGeom prst="rect">
            <a:avLst/>
          </a:prstGeom>
          <a:noFill/>
          <a:ln/>
        </p:spPr>
        <p:txBody>
          <a:bodyPr wrap="square" lIns="0" tIns="0" rIns="0" bIns="0" rtlCol="0" anchor="ctr">
            <a:normAutofit/>
          </a:bodyPr>
          <a:lstStyle/>
          <a:p>
            <a:pPr algn="ctr" indent="0" marL="0">
              <a:buNone/>
            </a:pPr>
            <a:r>
              <a:rPr lang="en-US" sz="1700" b="1" dirty="0">
                <a:solidFill>
                  <a:srgbClr val="EAFFF5"/>
                </a:solidFill>
                <a:latin typeface="Inter" pitchFamily="34" charset="0"/>
                <a:ea typeface="Inter" pitchFamily="34" charset="-122"/>
                <a:cs typeface="Inter" pitchFamily="34" charset="-120"/>
              </a:rPr>
              <a:t>RE-RENDER</a:t>
            </a:r>
            <a:endParaRPr lang="en-US" sz="1700" dirty="0"/>
          </a:p>
        </p:txBody>
      </p:sp>
      <p:sp>
        <p:nvSpPr>
          <p:cNvPr id="33" name="Text 31"/>
          <p:cNvSpPr/>
          <p:nvPr/>
        </p:nvSpPr>
        <p:spPr>
          <a:xfrm>
            <a:off x="3365416" y="3924202"/>
            <a:ext cx="1904952" cy="177796"/>
          </a:xfrm>
          <a:prstGeom prst="rect">
            <a:avLst/>
          </a:prstGeom>
          <a:noFill/>
          <a:ln/>
        </p:spPr>
        <p:txBody>
          <a:bodyPr wrap="square" lIns="0" tIns="0" rIns="0" bIns="0" rtlCol="0" anchor="ctr">
            <a:normAutofit/>
          </a:bodyPr>
          <a:lstStyle/>
          <a:p>
            <a:pPr algn="ctr" indent="0" marL="0">
              <a:buNone/>
            </a:pPr>
            <a:r>
              <a:rPr lang="en-US" sz="1100" b="1" dirty="0">
                <a:solidFill>
                  <a:srgbClr val="7F9BB0"/>
                </a:solidFill>
                <a:latin typeface="JetBrains Mono" pitchFamily="34" charset="0"/>
                <a:ea typeface="JetBrains Mono" pitchFamily="34" charset="-122"/>
                <a:cs typeface="JetBrains Mono" pitchFamily="34" charset="-120"/>
              </a:rPr>
              <a:t>via headless agent</a:t>
            </a:r>
            <a:endParaRPr lang="en-US" sz="1100" dirty="0"/>
          </a:p>
        </p:txBody>
      </p:sp>
      <p:sp>
        <p:nvSpPr>
          <p:cNvPr id="34" name="Shape 32"/>
          <p:cNvSpPr/>
          <p:nvPr/>
        </p:nvSpPr>
        <p:spPr>
          <a:xfrm>
            <a:off x="952476" y="4902077"/>
            <a:ext cx="1777956" cy="558786"/>
          </a:xfrm>
          <a:prstGeom prst="roundRect">
            <a:avLst>
              <a:gd name="adj" fmla="val 20455"/>
            </a:avLst>
          </a:prstGeom>
          <a:solidFill>
            <a:srgbClr val="0D2D22"/>
          </a:solidFill>
          <a:ln w="19050">
            <a:solidFill>
              <a:srgbClr val="39FF9C"/>
            </a:solidFill>
            <a:prstDash val="solid"/>
          </a:ln>
        </p:spPr>
      </p:sp>
      <p:sp>
        <p:nvSpPr>
          <p:cNvPr id="35" name="Text 33"/>
          <p:cNvSpPr/>
          <p:nvPr/>
        </p:nvSpPr>
        <p:spPr>
          <a:xfrm>
            <a:off x="952476" y="4965576"/>
            <a:ext cx="1777956" cy="253994"/>
          </a:xfrm>
          <a:prstGeom prst="rect">
            <a:avLst/>
          </a:prstGeom>
          <a:noFill/>
          <a:ln/>
        </p:spPr>
        <p:txBody>
          <a:bodyPr wrap="square" lIns="0" tIns="0" rIns="0" bIns="0" rtlCol="0" anchor="ctr">
            <a:normAutofit/>
          </a:bodyPr>
          <a:lstStyle/>
          <a:p>
            <a:pPr algn="ctr" indent="0" marL="0">
              <a:buNone/>
            </a:pPr>
            <a:r>
              <a:rPr lang="en-US" sz="1700" b="1" dirty="0">
                <a:solidFill>
                  <a:srgbClr val="EAFFF5"/>
                </a:solidFill>
                <a:latin typeface="Inter" pitchFamily="34" charset="0"/>
                <a:ea typeface="Inter" pitchFamily="34" charset="-122"/>
                <a:cs typeface="Inter" pitchFamily="34" charset="-120"/>
              </a:rPr>
              <a:t>SAVE</a:t>
            </a:r>
            <a:endParaRPr lang="en-US" sz="1700" dirty="0"/>
          </a:p>
        </p:txBody>
      </p:sp>
      <p:sp>
        <p:nvSpPr>
          <p:cNvPr id="36" name="Text 34"/>
          <p:cNvSpPr/>
          <p:nvPr/>
        </p:nvSpPr>
        <p:spPr>
          <a:xfrm>
            <a:off x="952476" y="5219570"/>
            <a:ext cx="1777956" cy="177796"/>
          </a:xfrm>
          <a:prstGeom prst="rect">
            <a:avLst/>
          </a:prstGeom>
          <a:noFill/>
          <a:ln/>
        </p:spPr>
        <p:txBody>
          <a:bodyPr wrap="square" lIns="0" tIns="0" rIns="0" bIns="0" rtlCol="0" anchor="ctr">
            <a:normAutofit/>
          </a:bodyPr>
          <a:lstStyle/>
          <a:p>
            <a:pPr algn="ctr" indent="0" marL="0">
              <a:buNone/>
            </a:pPr>
            <a:r>
              <a:rPr lang="en-US" sz="1100" b="1" dirty="0">
                <a:solidFill>
                  <a:srgbClr val="7F9BB0"/>
                </a:solidFill>
                <a:latin typeface="JetBrains Mono" pitchFamily="34" charset="0"/>
                <a:ea typeface="JetBrains Mono" pitchFamily="34" charset="-122"/>
                <a:cs typeface="JetBrains Mono" pitchFamily="34" charset="-120"/>
              </a:rPr>
              <a:t>v1, v2... clone</a:t>
            </a:r>
            <a:endParaRPr lang="en-US" sz="1100" dirty="0"/>
          </a:p>
        </p:txBody>
      </p:sp>
      <p:sp>
        <p:nvSpPr>
          <p:cNvPr id="37" name="Text 35"/>
          <p:cNvSpPr/>
          <p:nvPr/>
        </p:nvSpPr>
        <p:spPr>
          <a:xfrm>
            <a:off x="609585" y="6070448"/>
            <a:ext cx="5714857" cy="177796"/>
          </a:xfrm>
          <a:prstGeom prst="rect">
            <a:avLst/>
          </a:prstGeom>
          <a:noFill/>
          <a:ln/>
        </p:spPr>
        <p:txBody>
          <a:bodyPr wrap="square" lIns="0" tIns="0" rIns="0" bIns="0" rtlCol="0" anchor="t">
            <a:normAutofit/>
          </a:bodyPr>
          <a:lstStyle/>
          <a:p>
            <a:pPr algn="l" indent="0" marL="0">
              <a:buNone/>
            </a:pPr>
            <a:r>
              <a:rPr lang="en-US" sz="1000" b="1" dirty="0">
                <a:solidFill>
                  <a:srgbClr val="7F9BB0"/>
                </a:solidFill>
                <a:latin typeface="JetBrains Mono" pitchFamily="34" charset="0"/>
                <a:ea typeface="JetBrains Mono" pitchFamily="34" charset="-122"/>
                <a:cs typeface="JetBrains Mono" pitchFamily="34" charset="-120"/>
              </a:rPr>
              <a:t>*Repeat until it stops looking meh.</a:t>
            </a:r>
            <a:endParaRPr lang="en-US" sz="1000" dirty="0"/>
          </a:p>
        </p:txBody>
      </p:sp>
      <p:sp>
        <p:nvSpPr>
          <p:cNvPr id="38" name="Text 36"/>
          <p:cNvSpPr/>
          <p:nvPr/>
        </p:nvSpPr>
        <p:spPr>
          <a:xfrm>
            <a:off x="10312142" y="6070448"/>
            <a:ext cx="1269968" cy="177796"/>
          </a:xfrm>
          <a:prstGeom prst="rect">
            <a:avLst/>
          </a:prstGeom>
          <a:noFill/>
          <a:ln/>
        </p:spPr>
        <p:txBody>
          <a:bodyPr wrap="square" lIns="0" tIns="0" rIns="0" bIns="0" rtlCol="0" anchor="t">
            <a:normAutofit/>
          </a:bodyPr>
          <a:lstStyle/>
          <a:p>
            <a:pPr algn="r" indent="0" marL="0">
              <a:buNone/>
            </a:pPr>
            <a:r>
              <a:rPr lang="en-US" sz="1000" b="1" dirty="0">
                <a:solidFill>
                  <a:srgbClr val="7F9BB0"/>
                </a:solidFill>
                <a:latin typeface="JetBrains Mono" pitchFamily="34" charset="0"/>
                <a:ea typeface="JetBrains Mono" pitchFamily="34" charset="-122"/>
                <a:cs typeface="JetBrains Mono" pitchFamily="34" charset="-120"/>
              </a:rPr>
              <a:t>05 / 06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80D"/>
        </a:solidFill>
      </p:bgPr>
    </p:bg>
    <p:spTree>
      <p:nvGrpSpPr>
        <p:cNvPr id="1" name=""/>
        <p:cNvGrpSpPr/>
        <p:nvPr/>
      </p:nvGrpSpPr>
      <p:grpSpPr>
        <a:xfrm>
          <a:off x="0" y="0"/>
          <a:ext cx="0" cy="0"/>
          <a:chOff x="0" y="0"/>
          <a:chExt cx="0" cy="0"/>
        </a:xfrm>
      </p:grpSpPr>
      <p:sp>
        <p:nvSpPr>
          <p:cNvPr id="2" name="Text 0"/>
          <p:cNvSpPr/>
          <p:nvPr/>
        </p:nvSpPr>
        <p:spPr>
          <a:xfrm>
            <a:off x="609585" y="609585"/>
            <a:ext cx="8889778" cy="584185"/>
          </a:xfrm>
          <a:prstGeom prst="rect">
            <a:avLst/>
          </a:prstGeom>
          <a:noFill/>
          <a:ln/>
        </p:spPr>
        <p:txBody>
          <a:bodyPr wrap="square" lIns="0" tIns="0" rIns="0" bIns="0" rtlCol="0" anchor="t">
            <a:normAutofit/>
          </a:bodyPr>
          <a:lstStyle/>
          <a:p>
            <a:pPr algn="l" indent="0" marL="0">
              <a:buNone/>
            </a:pPr>
            <a:r>
              <a:rPr lang="en-US" sz="3800" b="1" dirty="0">
                <a:solidFill>
                  <a:srgbClr val="EAFFF5"/>
                </a:solidFill>
                <a:latin typeface="Inter" pitchFamily="34" charset="0"/>
                <a:ea typeface="Inter" pitchFamily="34" charset="-122"/>
                <a:cs typeface="Inter" pitchFamily="34" charset="-120"/>
              </a:rPr>
              <a:t>ONE STYLE, EVERY FORMAT</a:t>
            </a:r>
            <a:endParaRPr lang="en-US" sz="3800" dirty="0"/>
          </a:p>
        </p:txBody>
      </p:sp>
      <p:sp>
        <p:nvSpPr>
          <p:cNvPr id="3" name="Text 1"/>
          <p:cNvSpPr/>
          <p:nvPr/>
        </p:nvSpPr>
        <p:spPr>
          <a:xfrm>
            <a:off x="609585" y="1295368"/>
            <a:ext cx="8889778" cy="279393"/>
          </a:xfrm>
          <a:prstGeom prst="rect">
            <a:avLst/>
          </a:prstGeom>
          <a:noFill/>
          <a:ln/>
        </p:spPr>
        <p:txBody>
          <a:bodyPr wrap="square" lIns="0" tIns="0" rIns="0" bIns="0" rtlCol="0" anchor="t">
            <a:normAutofit/>
          </a:bodyPr>
          <a:lstStyle/>
          <a:p>
            <a:pPr algn="l" indent="0" marL="0">
              <a:buNone/>
            </a:pPr>
            <a:r>
              <a:rPr lang="en-US" sz="1700" dirty="0">
                <a:solidFill>
                  <a:srgbClr val="EAFFF5"/>
                </a:solidFill>
                <a:latin typeface="Inter" pitchFamily="34" charset="0"/>
                <a:ea typeface="Inter" pitchFamily="34" charset="-122"/>
                <a:cs typeface="Inter" pitchFamily="34" charset="-120"/>
              </a:rPr>
              <a:t>Extends Google's DESIGN.md with what it lacks.</a:t>
            </a:r>
            <a:endParaRPr lang="en-US" sz="1700" dirty="0"/>
          </a:p>
        </p:txBody>
      </p:sp>
      <p:sp>
        <p:nvSpPr>
          <p:cNvPr id="4" name="Shape 2"/>
          <p:cNvSpPr/>
          <p:nvPr/>
        </p:nvSpPr>
        <p:spPr>
          <a:xfrm>
            <a:off x="609585" y="1828754"/>
            <a:ext cx="6857829" cy="3911502"/>
          </a:xfrm>
          <a:prstGeom prst="roundRect">
            <a:avLst>
              <a:gd name="adj" fmla="val 2922"/>
            </a:avLst>
          </a:prstGeom>
          <a:solidFill>
            <a:srgbClr val="0F2233"/>
          </a:solidFill>
          <a:ln w="6350">
            <a:solidFill>
              <a:srgbClr val="2EC8FF"/>
            </a:solidFill>
            <a:prstDash val="solid"/>
          </a:ln>
        </p:spPr>
      </p:sp>
      <p:pic>
        <p:nvPicPr>
          <p:cNvPr id="5" name="Image 0" descr="folded top-right file corner (diagonal cut and right-triangle fold), no native primitive">    </p:cNvPr>
          <p:cNvPicPr>
            <a:picLocks noChangeAspect="1"/>
          </p:cNvPicPr>
          <p:nvPr/>
        </p:nvPicPr>
        <p:blipFill>
          <a:blip r:embed="rId1"/>
          <a:stretch>
            <a:fillRect/>
          </a:stretch>
        </p:blipFill>
        <p:spPr>
          <a:xfrm>
            <a:off x="7111822" y="1777956"/>
            <a:ext cx="406390" cy="406390"/>
          </a:xfrm>
          <a:prstGeom prst="rect">
            <a:avLst/>
          </a:prstGeom>
        </p:spPr>
      </p:pic>
      <p:sp>
        <p:nvSpPr>
          <p:cNvPr id="6" name="Shape 3"/>
          <p:cNvSpPr/>
          <p:nvPr/>
        </p:nvSpPr>
        <p:spPr>
          <a:xfrm>
            <a:off x="615935" y="2285943"/>
            <a:ext cx="6845129" cy="0"/>
          </a:xfrm>
          <a:prstGeom prst="line">
            <a:avLst/>
          </a:prstGeom>
          <a:noFill/>
          <a:ln w="6350">
            <a:solidFill>
              <a:srgbClr val="2EC8FF"/>
            </a:solidFill>
            <a:prstDash val="solid"/>
            <a:headEnd type="none"/>
            <a:tailEnd type="none"/>
          </a:ln>
        </p:spPr>
      </p:sp>
      <p:sp>
        <p:nvSpPr>
          <p:cNvPr id="7" name="Text 4"/>
          <p:cNvSpPr/>
          <p:nvPr/>
        </p:nvSpPr>
        <p:spPr>
          <a:xfrm>
            <a:off x="812780" y="1943051"/>
            <a:ext cx="6095848" cy="228594"/>
          </a:xfrm>
          <a:prstGeom prst="rect">
            <a:avLst/>
          </a:prstGeom>
          <a:noFill/>
          <a:ln/>
        </p:spPr>
        <p:txBody>
          <a:bodyPr wrap="square" lIns="0" tIns="0" rIns="0" bIns="0" rtlCol="0" anchor="ctr">
            <a:normAutofit/>
          </a:bodyPr>
          <a:lstStyle/>
          <a:p>
            <a:pPr algn="l" indent="0" marL="0">
              <a:buNone/>
            </a:pPr>
            <a:r>
              <a:rPr lang="en-US" sz="1300" b="1" dirty="0">
                <a:solidFill>
                  <a:srgbClr val="2EC8FF"/>
                </a:solidFill>
                <a:latin typeface="JetBrains Mono" pitchFamily="34" charset="0"/>
                <a:ea typeface="JetBrains Mono" pitchFamily="34" charset="-122"/>
                <a:cs typeface="JetBrains Mono" pitchFamily="34" charset="-120"/>
              </a:rPr>
              <a:t>hitchhikers-guide / DESIGN.md</a:t>
            </a:r>
            <a:endParaRPr lang="en-US" sz="1300" dirty="0"/>
          </a:p>
        </p:txBody>
      </p:sp>
      <p:sp>
        <p:nvSpPr>
          <p:cNvPr id="8" name="Shape 5"/>
          <p:cNvSpPr/>
          <p:nvPr/>
        </p:nvSpPr>
        <p:spPr>
          <a:xfrm>
            <a:off x="812780" y="2489138"/>
            <a:ext cx="6451439" cy="507987"/>
          </a:xfrm>
          <a:prstGeom prst="roundRect">
            <a:avLst>
              <a:gd name="adj" fmla="val 12500"/>
            </a:avLst>
          </a:prstGeom>
          <a:solidFill>
            <a:srgbClr val="0B1622"/>
          </a:solidFill>
          <a:ln w="19050">
            <a:solidFill>
              <a:srgbClr val="2EC8FF"/>
            </a:solidFill>
            <a:prstDash val="solid"/>
          </a:ln>
        </p:spPr>
      </p:sp>
      <p:sp>
        <p:nvSpPr>
          <p:cNvPr id="9" name="Text 6"/>
          <p:cNvSpPr/>
          <p:nvPr/>
        </p:nvSpPr>
        <p:spPr>
          <a:xfrm>
            <a:off x="1015975" y="2628834"/>
            <a:ext cx="4063898" cy="228594"/>
          </a:xfrm>
          <a:prstGeom prst="rect">
            <a:avLst/>
          </a:prstGeom>
          <a:noFill/>
          <a:ln/>
        </p:spPr>
        <p:txBody>
          <a:bodyPr wrap="square" lIns="0" tIns="0" rIns="0" bIns="0" rtlCol="0" anchor="ctr">
            <a:normAutofit/>
          </a:bodyPr>
          <a:lstStyle/>
          <a:p>
            <a:pPr algn="l" indent="0" marL="0">
              <a:buNone/>
            </a:pPr>
            <a:r>
              <a:rPr lang="en-US" sz="1300" b="1" dirty="0">
                <a:solidFill>
                  <a:srgbClr val="EAFFF5"/>
                </a:solidFill>
                <a:latin typeface="JetBrains Mono" pitchFamily="34" charset="0"/>
                <a:ea typeface="JetBrains Mono" pitchFamily="34" charset="-122"/>
                <a:cs typeface="JetBrains Mono" pitchFamily="34" charset="-120"/>
              </a:rPr>
              <a:t>tokens · palette, type</a:t>
            </a:r>
            <a:endParaRPr lang="en-US" sz="1300" dirty="0"/>
          </a:p>
        </p:txBody>
      </p:sp>
      <p:sp>
        <p:nvSpPr>
          <p:cNvPr id="10" name="Text 7"/>
          <p:cNvSpPr/>
          <p:nvPr/>
        </p:nvSpPr>
        <p:spPr>
          <a:xfrm>
            <a:off x="5537062" y="2641534"/>
            <a:ext cx="1523962" cy="203195"/>
          </a:xfrm>
          <a:prstGeom prst="rect">
            <a:avLst/>
          </a:prstGeom>
          <a:noFill/>
          <a:ln/>
        </p:spPr>
        <p:txBody>
          <a:bodyPr wrap="square" lIns="0" tIns="0" rIns="0" bIns="0" rtlCol="0" anchor="ctr">
            <a:normAutofit/>
          </a:bodyPr>
          <a:lstStyle/>
          <a:p>
            <a:pPr algn="r" indent="0" marL="0">
              <a:buNone/>
            </a:pPr>
            <a:r>
              <a:rPr lang="en-US" sz="1100" b="1" dirty="0">
                <a:solidFill>
                  <a:srgbClr val="7F9BB0"/>
                </a:solidFill>
                <a:latin typeface="JetBrains Mono" pitchFamily="34" charset="0"/>
                <a:ea typeface="JetBrains Mono" pitchFamily="34" charset="-122"/>
                <a:cs typeface="JetBrains Mono" pitchFamily="34" charset="-120"/>
              </a:rPr>
              <a:t>DESIGN.md</a:t>
            </a:r>
            <a:endParaRPr lang="en-US" sz="1100" dirty="0"/>
          </a:p>
        </p:txBody>
      </p:sp>
      <p:sp>
        <p:nvSpPr>
          <p:cNvPr id="11" name="Shape 8"/>
          <p:cNvSpPr/>
          <p:nvPr/>
        </p:nvSpPr>
        <p:spPr>
          <a:xfrm>
            <a:off x="812780" y="3111422"/>
            <a:ext cx="6451439" cy="507987"/>
          </a:xfrm>
          <a:prstGeom prst="roundRect">
            <a:avLst>
              <a:gd name="adj" fmla="val 12500"/>
            </a:avLst>
          </a:prstGeom>
          <a:solidFill>
            <a:srgbClr val="154343"/>
          </a:solidFill>
          <a:ln w="19050">
            <a:solidFill>
              <a:srgbClr val="2EC8FF"/>
            </a:solidFill>
            <a:prstDash val="solid"/>
          </a:ln>
        </p:spPr>
      </p:sp>
      <p:sp>
        <p:nvSpPr>
          <p:cNvPr id="12" name="Text 9"/>
          <p:cNvSpPr/>
          <p:nvPr/>
        </p:nvSpPr>
        <p:spPr>
          <a:xfrm>
            <a:off x="1015975" y="3251119"/>
            <a:ext cx="4063898" cy="228594"/>
          </a:xfrm>
          <a:prstGeom prst="rect">
            <a:avLst/>
          </a:prstGeom>
          <a:noFill/>
          <a:ln/>
        </p:spPr>
        <p:txBody>
          <a:bodyPr wrap="square" lIns="0" tIns="0" rIns="0" bIns="0" rtlCol="0" anchor="ctr">
            <a:normAutofit/>
          </a:bodyPr>
          <a:lstStyle/>
          <a:p>
            <a:pPr algn="l" indent="0" marL="0">
              <a:buNone/>
            </a:pPr>
            <a:r>
              <a:rPr lang="en-US" sz="1300" b="1" dirty="0">
                <a:solidFill>
                  <a:srgbClr val="EAFFF5"/>
                </a:solidFill>
                <a:latin typeface="JetBrains Mono" pitchFamily="34" charset="0"/>
                <a:ea typeface="JetBrains Mono" pitchFamily="34" charset="-122"/>
                <a:cs typeface="JetBrains Mono" pitchFamily="34" charset="-120"/>
              </a:rPr>
              <a:t>motion</a:t>
            </a:r>
            <a:endParaRPr lang="en-US" sz="1300" dirty="0"/>
          </a:p>
        </p:txBody>
      </p:sp>
      <p:sp>
        <p:nvSpPr>
          <p:cNvPr id="13" name="Text 10"/>
          <p:cNvSpPr/>
          <p:nvPr/>
        </p:nvSpPr>
        <p:spPr>
          <a:xfrm>
            <a:off x="5537062" y="3263818"/>
            <a:ext cx="1523962" cy="203195"/>
          </a:xfrm>
          <a:prstGeom prst="rect">
            <a:avLst/>
          </a:prstGeom>
          <a:noFill/>
          <a:ln/>
        </p:spPr>
        <p:txBody>
          <a:bodyPr wrap="square" lIns="0" tIns="0" rIns="0" bIns="0" rtlCol="0" anchor="ctr">
            <a:normAutofit/>
          </a:bodyPr>
          <a:lstStyle/>
          <a:p>
            <a:pPr algn="r" indent="0" marL="0">
              <a:buNone/>
            </a:pPr>
            <a:r>
              <a:rPr lang="en-US" sz="1100" b="1" dirty="0">
                <a:solidFill>
                  <a:srgbClr val="39FF9C"/>
                </a:solidFill>
                <a:latin typeface="JetBrains Mono" pitchFamily="34" charset="0"/>
                <a:ea typeface="JetBrains Mono" pitchFamily="34" charset="-122"/>
                <a:cs typeface="JetBrains Mono" pitchFamily="34" charset="-120"/>
              </a:rPr>
              <a:t>added</a:t>
            </a:r>
            <a:endParaRPr lang="en-US" sz="1100" dirty="0"/>
          </a:p>
        </p:txBody>
      </p:sp>
      <p:sp>
        <p:nvSpPr>
          <p:cNvPr id="14" name="Shape 11"/>
          <p:cNvSpPr/>
          <p:nvPr/>
        </p:nvSpPr>
        <p:spPr>
          <a:xfrm>
            <a:off x="812780" y="3733707"/>
            <a:ext cx="6451439" cy="507987"/>
          </a:xfrm>
          <a:prstGeom prst="roundRect">
            <a:avLst>
              <a:gd name="adj" fmla="val 12500"/>
            </a:avLst>
          </a:prstGeom>
          <a:solidFill>
            <a:srgbClr val="154343"/>
          </a:solidFill>
          <a:ln w="19050">
            <a:solidFill>
              <a:srgbClr val="2EC8FF"/>
            </a:solidFill>
            <a:prstDash val="solid"/>
          </a:ln>
        </p:spPr>
      </p:sp>
      <p:sp>
        <p:nvSpPr>
          <p:cNvPr id="15" name="Text 12"/>
          <p:cNvSpPr/>
          <p:nvPr/>
        </p:nvSpPr>
        <p:spPr>
          <a:xfrm>
            <a:off x="1015975" y="3873403"/>
            <a:ext cx="4063898" cy="228594"/>
          </a:xfrm>
          <a:prstGeom prst="rect">
            <a:avLst/>
          </a:prstGeom>
          <a:noFill/>
          <a:ln/>
        </p:spPr>
        <p:txBody>
          <a:bodyPr wrap="square" lIns="0" tIns="0" rIns="0" bIns="0" rtlCol="0" anchor="ctr">
            <a:normAutofit/>
          </a:bodyPr>
          <a:lstStyle/>
          <a:p>
            <a:pPr algn="l" indent="0" marL="0">
              <a:buNone/>
            </a:pPr>
            <a:r>
              <a:rPr lang="en-US" sz="1300" b="1" dirty="0">
                <a:solidFill>
                  <a:srgbClr val="EAFFF5"/>
                </a:solidFill>
                <a:latin typeface="JetBrains Mono" pitchFamily="34" charset="0"/>
                <a:ea typeface="JetBrains Mono" pitchFamily="34" charset="-122"/>
                <a:cs typeface="JetBrains Mono" pitchFamily="34" charset="-120"/>
              </a:rPr>
              <a:t>camera</a:t>
            </a:r>
            <a:endParaRPr lang="en-US" sz="1300" dirty="0"/>
          </a:p>
        </p:txBody>
      </p:sp>
      <p:sp>
        <p:nvSpPr>
          <p:cNvPr id="16" name="Text 13"/>
          <p:cNvSpPr/>
          <p:nvPr/>
        </p:nvSpPr>
        <p:spPr>
          <a:xfrm>
            <a:off x="5537062" y="3886103"/>
            <a:ext cx="1523962" cy="203195"/>
          </a:xfrm>
          <a:prstGeom prst="rect">
            <a:avLst/>
          </a:prstGeom>
          <a:noFill/>
          <a:ln/>
        </p:spPr>
        <p:txBody>
          <a:bodyPr wrap="square" lIns="0" tIns="0" rIns="0" bIns="0" rtlCol="0" anchor="ctr">
            <a:normAutofit/>
          </a:bodyPr>
          <a:lstStyle/>
          <a:p>
            <a:pPr algn="r" indent="0" marL="0">
              <a:buNone/>
            </a:pPr>
            <a:r>
              <a:rPr lang="en-US" sz="1100" b="1" dirty="0">
                <a:solidFill>
                  <a:srgbClr val="39FF9C"/>
                </a:solidFill>
                <a:latin typeface="JetBrains Mono" pitchFamily="34" charset="0"/>
                <a:ea typeface="JetBrains Mono" pitchFamily="34" charset="-122"/>
                <a:cs typeface="JetBrains Mono" pitchFamily="34" charset="-120"/>
              </a:rPr>
              <a:t>added</a:t>
            </a:r>
            <a:endParaRPr lang="en-US" sz="1100" dirty="0"/>
          </a:p>
        </p:txBody>
      </p:sp>
      <p:sp>
        <p:nvSpPr>
          <p:cNvPr id="17" name="Shape 14"/>
          <p:cNvSpPr/>
          <p:nvPr/>
        </p:nvSpPr>
        <p:spPr>
          <a:xfrm>
            <a:off x="812780" y="4355991"/>
            <a:ext cx="6451439" cy="507987"/>
          </a:xfrm>
          <a:prstGeom prst="roundRect">
            <a:avLst>
              <a:gd name="adj" fmla="val 12500"/>
            </a:avLst>
          </a:prstGeom>
          <a:solidFill>
            <a:srgbClr val="154343"/>
          </a:solidFill>
          <a:ln w="19050">
            <a:solidFill>
              <a:srgbClr val="2EC8FF"/>
            </a:solidFill>
            <a:prstDash val="solid"/>
          </a:ln>
        </p:spPr>
      </p:sp>
      <p:sp>
        <p:nvSpPr>
          <p:cNvPr id="18" name="Text 15"/>
          <p:cNvSpPr/>
          <p:nvPr/>
        </p:nvSpPr>
        <p:spPr>
          <a:xfrm>
            <a:off x="1015975" y="4495688"/>
            <a:ext cx="4063898" cy="228594"/>
          </a:xfrm>
          <a:prstGeom prst="rect">
            <a:avLst/>
          </a:prstGeom>
          <a:noFill/>
          <a:ln/>
        </p:spPr>
        <p:txBody>
          <a:bodyPr wrap="square" lIns="0" tIns="0" rIns="0" bIns="0" rtlCol="0" anchor="ctr">
            <a:normAutofit/>
          </a:bodyPr>
          <a:lstStyle/>
          <a:p>
            <a:pPr algn="l" indent="0" marL="0">
              <a:buNone/>
            </a:pPr>
            <a:r>
              <a:rPr lang="en-US" sz="1300" b="1" dirty="0">
                <a:solidFill>
                  <a:srgbClr val="EAFFF5"/>
                </a:solidFill>
                <a:latin typeface="JetBrains Mono" pitchFamily="34" charset="0"/>
                <a:ea typeface="JetBrains Mono" pitchFamily="34" charset="-122"/>
                <a:cs typeface="JetBrains Mono" pitchFamily="34" charset="-120"/>
              </a:rPr>
              <a:t>voice</a:t>
            </a:r>
            <a:endParaRPr lang="en-US" sz="1300" dirty="0"/>
          </a:p>
        </p:txBody>
      </p:sp>
      <p:sp>
        <p:nvSpPr>
          <p:cNvPr id="19" name="Text 16"/>
          <p:cNvSpPr/>
          <p:nvPr/>
        </p:nvSpPr>
        <p:spPr>
          <a:xfrm>
            <a:off x="5537062" y="4508387"/>
            <a:ext cx="1523962" cy="203195"/>
          </a:xfrm>
          <a:prstGeom prst="rect">
            <a:avLst/>
          </a:prstGeom>
          <a:noFill/>
          <a:ln/>
        </p:spPr>
        <p:txBody>
          <a:bodyPr wrap="square" lIns="0" tIns="0" rIns="0" bIns="0" rtlCol="0" anchor="ctr">
            <a:normAutofit/>
          </a:bodyPr>
          <a:lstStyle/>
          <a:p>
            <a:pPr algn="r" indent="0" marL="0">
              <a:buNone/>
            </a:pPr>
            <a:r>
              <a:rPr lang="en-US" sz="1100" b="1" dirty="0">
                <a:solidFill>
                  <a:srgbClr val="39FF9C"/>
                </a:solidFill>
                <a:latin typeface="JetBrains Mono" pitchFamily="34" charset="0"/>
                <a:ea typeface="JetBrains Mono" pitchFamily="34" charset="-122"/>
                <a:cs typeface="JetBrains Mono" pitchFamily="34" charset="-120"/>
              </a:rPr>
              <a:t>added</a:t>
            </a:r>
            <a:endParaRPr lang="en-US" sz="1100" dirty="0"/>
          </a:p>
        </p:txBody>
      </p:sp>
      <p:sp>
        <p:nvSpPr>
          <p:cNvPr id="20" name="Shape 17"/>
          <p:cNvSpPr/>
          <p:nvPr/>
        </p:nvSpPr>
        <p:spPr>
          <a:xfrm>
            <a:off x="812780" y="4978276"/>
            <a:ext cx="6451439" cy="507987"/>
          </a:xfrm>
          <a:prstGeom prst="roundRect">
            <a:avLst>
              <a:gd name="adj" fmla="val 12500"/>
            </a:avLst>
          </a:prstGeom>
          <a:solidFill>
            <a:srgbClr val="154343"/>
          </a:solidFill>
          <a:ln w="19050">
            <a:solidFill>
              <a:srgbClr val="2EC8FF"/>
            </a:solidFill>
            <a:prstDash val="solid"/>
          </a:ln>
        </p:spPr>
      </p:sp>
      <p:sp>
        <p:nvSpPr>
          <p:cNvPr id="21" name="Text 18"/>
          <p:cNvSpPr/>
          <p:nvPr/>
        </p:nvSpPr>
        <p:spPr>
          <a:xfrm>
            <a:off x="1015975" y="5117972"/>
            <a:ext cx="4063898" cy="228594"/>
          </a:xfrm>
          <a:prstGeom prst="rect">
            <a:avLst/>
          </a:prstGeom>
          <a:noFill/>
          <a:ln/>
        </p:spPr>
        <p:txBody>
          <a:bodyPr wrap="square" lIns="0" tIns="0" rIns="0" bIns="0" rtlCol="0" anchor="ctr">
            <a:normAutofit/>
          </a:bodyPr>
          <a:lstStyle/>
          <a:p>
            <a:pPr algn="l" indent="0" marL="0">
              <a:buNone/>
            </a:pPr>
            <a:r>
              <a:rPr lang="en-US" sz="1300" b="1" dirty="0">
                <a:solidFill>
                  <a:srgbClr val="EAFFF5"/>
                </a:solidFill>
                <a:latin typeface="JetBrains Mono" pitchFamily="34" charset="0"/>
                <a:ea typeface="JetBrains Mono" pitchFamily="34" charset="-122"/>
                <a:cs typeface="JetBrains Mono" pitchFamily="34" charset="-120"/>
              </a:rPr>
              <a:t>per-type rules</a:t>
            </a:r>
            <a:endParaRPr lang="en-US" sz="1300" dirty="0"/>
          </a:p>
        </p:txBody>
      </p:sp>
      <p:sp>
        <p:nvSpPr>
          <p:cNvPr id="22" name="Text 19"/>
          <p:cNvSpPr/>
          <p:nvPr/>
        </p:nvSpPr>
        <p:spPr>
          <a:xfrm>
            <a:off x="5537062" y="5130672"/>
            <a:ext cx="1523962" cy="203195"/>
          </a:xfrm>
          <a:prstGeom prst="rect">
            <a:avLst/>
          </a:prstGeom>
          <a:noFill/>
          <a:ln/>
        </p:spPr>
        <p:txBody>
          <a:bodyPr wrap="square" lIns="0" tIns="0" rIns="0" bIns="0" rtlCol="0" anchor="ctr">
            <a:normAutofit/>
          </a:bodyPr>
          <a:lstStyle/>
          <a:p>
            <a:pPr algn="r" indent="0" marL="0">
              <a:buNone/>
            </a:pPr>
            <a:r>
              <a:rPr lang="en-US" sz="1100" b="1" dirty="0">
                <a:solidFill>
                  <a:srgbClr val="39FF9C"/>
                </a:solidFill>
                <a:latin typeface="JetBrains Mono" pitchFamily="34" charset="0"/>
                <a:ea typeface="JetBrains Mono" pitchFamily="34" charset="-122"/>
                <a:cs typeface="JetBrains Mono" pitchFamily="34" charset="-120"/>
              </a:rPr>
              <a:t>added</a:t>
            </a:r>
            <a:endParaRPr lang="en-US" sz="1100" dirty="0"/>
          </a:p>
        </p:txBody>
      </p:sp>
      <p:sp>
        <p:nvSpPr>
          <p:cNvPr id="23" name="Shape 20"/>
          <p:cNvSpPr/>
          <p:nvPr/>
        </p:nvSpPr>
        <p:spPr>
          <a:xfrm>
            <a:off x="7569011" y="2336742"/>
            <a:ext cx="1155671" cy="0"/>
          </a:xfrm>
          <a:prstGeom prst="line">
            <a:avLst/>
          </a:prstGeom>
          <a:noFill/>
          <a:ln w="19050">
            <a:solidFill>
              <a:srgbClr val="2EC8FF"/>
            </a:solidFill>
            <a:prstDash val="solid"/>
            <a:headEnd type="none"/>
            <a:tailEnd type="triangle"/>
          </a:ln>
        </p:spPr>
      </p:sp>
      <p:sp>
        <p:nvSpPr>
          <p:cNvPr id="24" name="Shape 21"/>
          <p:cNvSpPr/>
          <p:nvPr/>
        </p:nvSpPr>
        <p:spPr>
          <a:xfrm>
            <a:off x="7569011" y="3301917"/>
            <a:ext cx="1117572" cy="0"/>
          </a:xfrm>
          <a:prstGeom prst="line">
            <a:avLst/>
          </a:prstGeom>
          <a:noFill/>
          <a:ln w="19050">
            <a:solidFill>
              <a:srgbClr val="2EC8FF"/>
            </a:solidFill>
            <a:prstDash val="solid"/>
            <a:headEnd type="none"/>
            <a:tailEnd type="triangle"/>
          </a:ln>
        </p:spPr>
      </p:sp>
      <p:sp>
        <p:nvSpPr>
          <p:cNvPr id="25" name="Shape 22"/>
          <p:cNvSpPr/>
          <p:nvPr/>
        </p:nvSpPr>
        <p:spPr>
          <a:xfrm>
            <a:off x="7569011" y="4267093"/>
            <a:ext cx="1155671" cy="0"/>
          </a:xfrm>
          <a:prstGeom prst="line">
            <a:avLst/>
          </a:prstGeom>
          <a:noFill/>
          <a:ln w="19050">
            <a:solidFill>
              <a:srgbClr val="2EC8FF"/>
            </a:solidFill>
            <a:prstDash val="solid"/>
            <a:headEnd type="none"/>
            <a:tailEnd type="triangle"/>
          </a:ln>
        </p:spPr>
      </p:sp>
      <p:sp>
        <p:nvSpPr>
          <p:cNvPr id="26" name="Shape 23"/>
          <p:cNvSpPr/>
          <p:nvPr/>
        </p:nvSpPr>
        <p:spPr>
          <a:xfrm>
            <a:off x="7569011" y="5232269"/>
            <a:ext cx="1155671" cy="0"/>
          </a:xfrm>
          <a:prstGeom prst="line">
            <a:avLst/>
          </a:prstGeom>
          <a:noFill/>
          <a:ln w="19050">
            <a:solidFill>
              <a:srgbClr val="2EC8FF"/>
            </a:solidFill>
            <a:prstDash val="solid"/>
            <a:headEnd type="none"/>
            <a:tailEnd type="triangle"/>
          </a:ln>
        </p:spPr>
      </p:sp>
      <p:sp>
        <p:nvSpPr>
          <p:cNvPr id="27" name="Shape 24"/>
          <p:cNvSpPr/>
          <p:nvPr/>
        </p:nvSpPr>
        <p:spPr>
          <a:xfrm>
            <a:off x="8889778" y="2050999"/>
            <a:ext cx="888978" cy="571486"/>
          </a:xfrm>
          <a:prstGeom prst="roundRect">
            <a:avLst>
              <a:gd name="adj" fmla="val 11111"/>
            </a:avLst>
          </a:prstGeom>
          <a:solidFill>
            <a:srgbClr val="05080D"/>
          </a:solidFill>
          <a:ln w="19050">
            <a:solidFill>
              <a:srgbClr val="39FF9C"/>
            </a:solidFill>
            <a:prstDash val="solid"/>
          </a:ln>
        </p:spPr>
      </p:sp>
      <p:pic>
        <p:nvPicPr>
          <p:cNvPr id="28" name="Image 1" descr="right-pointing play triangle; the native triangle shape only points up">    </p:cNvPr>
          <p:cNvPicPr>
            <a:picLocks noChangeAspect="1"/>
          </p:cNvPicPr>
          <p:nvPr/>
        </p:nvPicPr>
        <p:blipFill>
          <a:blip r:embed="rId2"/>
          <a:stretch>
            <a:fillRect/>
          </a:stretch>
        </p:blipFill>
        <p:spPr>
          <a:xfrm>
            <a:off x="9219969" y="2184345"/>
            <a:ext cx="279393" cy="304792"/>
          </a:xfrm>
          <a:prstGeom prst="rect">
            <a:avLst/>
          </a:prstGeom>
        </p:spPr>
      </p:pic>
      <p:sp>
        <p:nvSpPr>
          <p:cNvPr id="29" name="Text 25"/>
          <p:cNvSpPr/>
          <p:nvPr/>
        </p:nvSpPr>
        <p:spPr>
          <a:xfrm>
            <a:off x="10108947" y="2235144"/>
            <a:ext cx="1473163" cy="203195"/>
          </a:xfrm>
          <a:prstGeom prst="rect">
            <a:avLst/>
          </a:prstGeom>
          <a:noFill/>
          <a:ln/>
        </p:spPr>
        <p:txBody>
          <a:bodyPr wrap="square" lIns="0" tIns="0" rIns="0" bIns="0" rtlCol="0" anchor="ctr">
            <a:normAutofit/>
          </a:bodyPr>
          <a:lstStyle/>
          <a:p>
            <a:pPr algn="l" indent="0" marL="0">
              <a:buNone/>
            </a:pPr>
            <a:r>
              <a:rPr lang="en-US" sz="1100" b="1" dirty="0">
                <a:solidFill>
                  <a:srgbClr val="EAFFF5"/>
                </a:solidFill>
                <a:latin typeface="JetBrains Mono" pitchFamily="34" charset="0"/>
                <a:ea typeface="JetBrains Mono" pitchFamily="34" charset="-122"/>
                <a:cs typeface="JetBrains Mono" pitchFamily="34" charset="-120"/>
              </a:rPr>
              <a:t>video</a:t>
            </a:r>
            <a:endParaRPr lang="en-US" sz="1100" dirty="0"/>
          </a:p>
        </p:txBody>
      </p:sp>
      <p:sp>
        <p:nvSpPr>
          <p:cNvPr id="30" name="Shape 26"/>
          <p:cNvSpPr/>
          <p:nvPr/>
        </p:nvSpPr>
        <p:spPr>
          <a:xfrm>
            <a:off x="8762781" y="2933627"/>
            <a:ext cx="1142971" cy="736582"/>
          </a:xfrm>
          <a:prstGeom prst="roundRect">
            <a:avLst>
              <a:gd name="adj" fmla="val 15517"/>
            </a:avLst>
          </a:prstGeom>
          <a:solidFill>
            <a:srgbClr val="05080D"/>
          </a:solidFill>
          <a:ln w="38100">
            <a:solidFill>
              <a:srgbClr val="E8FF3A"/>
            </a:solidFill>
            <a:prstDash val="solid"/>
          </a:ln>
        </p:spPr>
      </p:sp>
      <p:sp>
        <p:nvSpPr>
          <p:cNvPr id="31" name="Shape 27"/>
          <p:cNvSpPr/>
          <p:nvPr/>
        </p:nvSpPr>
        <p:spPr>
          <a:xfrm>
            <a:off x="8877078" y="3047924"/>
            <a:ext cx="914377" cy="507987"/>
          </a:xfrm>
          <a:prstGeom prst="roundRect">
            <a:avLst>
              <a:gd name="adj" fmla="val 12500"/>
            </a:avLst>
          </a:prstGeom>
          <a:solidFill>
            <a:srgbClr val="05080D"/>
          </a:solidFill>
          <a:ln w="19050">
            <a:solidFill>
              <a:srgbClr val="39FF9C"/>
            </a:solidFill>
            <a:prstDash val="solid"/>
          </a:ln>
        </p:spPr>
      </p:sp>
      <p:sp>
        <p:nvSpPr>
          <p:cNvPr id="32" name="Shape 28"/>
          <p:cNvSpPr/>
          <p:nvPr/>
        </p:nvSpPr>
        <p:spPr>
          <a:xfrm>
            <a:off x="9004075" y="3187620"/>
            <a:ext cx="520687" cy="0"/>
          </a:xfrm>
          <a:prstGeom prst="line">
            <a:avLst/>
          </a:prstGeom>
          <a:noFill/>
          <a:ln w="38100">
            <a:solidFill>
              <a:srgbClr val="39FF9C"/>
            </a:solidFill>
            <a:prstDash val="solid"/>
            <a:headEnd type="none"/>
            <a:tailEnd type="none"/>
          </a:ln>
        </p:spPr>
      </p:sp>
      <p:sp>
        <p:nvSpPr>
          <p:cNvPr id="33" name="Shape 29"/>
          <p:cNvSpPr/>
          <p:nvPr/>
        </p:nvSpPr>
        <p:spPr>
          <a:xfrm>
            <a:off x="9004075" y="3301917"/>
            <a:ext cx="660383" cy="0"/>
          </a:xfrm>
          <a:prstGeom prst="line">
            <a:avLst/>
          </a:prstGeom>
          <a:noFill/>
          <a:ln w="38100">
            <a:solidFill>
              <a:srgbClr val="39FF9C"/>
            </a:solidFill>
            <a:prstDash val="solid"/>
            <a:headEnd type="none"/>
            <a:tailEnd type="none"/>
          </a:ln>
        </p:spPr>
      </p:sp>
      <p:sp>
        <p:nvSpPr>
          <p:cNvPr id="34" name="Shape 30"/>
          <p:cNvSpPr/>
          <p:nvPr/>
        </p:nvSpPr>
        <p:spPr>
          <a:xfrm>
            <a:off x="9004075" y="3416215"/>
            <a:ext cx="380990" cy="0"/>
          </a:xfrm>
          <a:prstGeom prst="line">
            <a:avLst/>
          </a:prstGeom>
          <a:noFill/>
          <a:ln w="38100">
            <a:solidFill>
              <a:srgbClr val="39FF9C"/>
            </a:solidFill>
            <a:prstDash val="solid"/>
            <a:headEnd type="none"/>
            <a:tailEnd type="none"/>
          </a:ln>
        </p:spPr>
      </p:sp>
      <p:sp>
        <p:nvSpPr>
          <p:cNvPr id="35" name="Text 31"/>
          <p:cNvSpPr/>
          <p:nvPr/>
        </p:nvSpPr>
        <p:spPr>
          <a:xfrm>
            <a:off x="10108947" y="3098723"/>
            <a:ext cx="1473163" cy="203195"/>
          </a:xfrm>
          <a:prstGeom prst="rect">
            <a:avLst/>
          </a:prstGeom>
          <a:noFill/>
          <a:ln/>
        </p:spPr>
        <p:txBody>
          <a:bodyPr wrap="square" lIns="0" tIns="0" rIns="0" bIns="0" rtlCol="0" anchor="ctr">
            <a:normAutofit/>
          </a:bodyPr>
          <a:lstStyle/>
          <a:p>
            <a:pPr algn="l" indent="0" marL="0">
              <a:buNone/>
            </a:pPr>
            <a:r>
              <a:rPr lang="en-US" sz="1100" b="1" dirty="0">
                <a:solidFill>
                  <a:srgbClr val="EAFFF5"/>
                </a:solidFill>
                <a:latin typeface="JetBrains Mono" pitchFamily="34" charset="0"/>
                <a:ea typeface="JetBrains Mono" pitchFamily="34" charset="-122"/>
                <a:cs typeface="JetBrains Mono" pitchFamily="34" charset="-120"/>
              </a:rPr>
              <a:t>deck</a:t>
            </a:r>
            <a:endParaRPr lang="en-US" sz="1100" dirty="0"/>
          </a:p>
        </p:txBody>
      </p:sp>
      <p:sp>
        <p:nvSpPr>
          <p:cNvPr id="36" name="Text 32"/>
          <p:cNvSpPr/>
          <p:nvPr/>
        </p:nvSpPr>
        <p:spPr>
          <a:xfrm>
            <a:off x="10108947" y="3301917"/>
            <a:ext cx="1473163" cy="203195"/>
          </a:xfrm>
          <a:prstGeom prst="rect">
            <a:avLst/>
          </a:prstGeom>
          <a:noFill/>
          <a:ln/>
        </p:spPr>
        <p:txBody>
          <a:bodyPr wrap="square" lIns="0" tIns="0" rIns="0" bIns="0" rtlCol="0" anchor="ctr">
            <a:normAutofit/>
          </a:bodyPr>
          <a:lstStyle/>
          <a:p>
            <a:pPr algn="l" indent="0" marL="0">
              <a:buNone/>
            </a:pPr>
            <a:r>
              <a:rPr lang="en-US" sz="1100" b="1" dirty="0">
                <a:solidFill>
                  <a:srgbClr val="E8FF3A"/>
                </a:solidFill>
                <a:latin typeface="JetBrains Mono" pitchFamily="34" charset="0"/>
                <a:ea typeface="JetBrains Mono" pitchFamily="34" charset="-122"/>
                <a:cs typeface="JetBrains Mono" pitchFamily="34" charset="-120"/>
              </a:rPr>
              <a:t>you are here</a:t>
            </a:r>
            <a:endParaRPr lang="en-US" sz="1100" dirty="0"/>
          </a:p>
        </p:txBody>
      </p:sp>
      <p:sp>
        <p:nvSpPr>
          <p:cNvPr id="37" name="Shape 33"/>
          <p:cNvSpPr/>
          <p:nvPr/>
        </p:nvSpPr>
        <p:spPr>
          <a:xfrm>
            <a:off x="9131072" y="3962301"/>
            <a:ext cx="406390" cy="609585"/>
          </a:xfrm>
          <a:prstGeom prst="roundRect">
            <a:avLst>
              <a:gd name="adj" fmla="val 15625"/>
            </a:avLst>
          </a:prstGeom>
          <a:solidFill>
            <a:srgbClr val="05080D"/>
          </a:solidFill>
          <a:ln w="19050">
            <a:solidFill>
              <a:srgbClr val="39FF9C"/>
            </a:solidFill>
            <a:prstDash val="solid"/>
          </a:ln>
        </p:spPr>
      </p:sp>
      <p:sp>
        <p:nvSpPr>
          <p:cNvPr id="38" name="Shape 34"/>
          <p:cNvSpPr/>
          <p:nvPr/>
        </p:nvSpPr>
        <p:spPr>
          <a:xfrm>
            <a:off x="9194570" y="4025799"/>
            <a:ext cx="126997" cy="126997"/>
          </a:xfrm>
          <a:prstGeom prst="roundRect">
            <a:avLst>
              <a:gd name="adj" fmla="val 15000"/>
            </a:avLst>
          </a:prstGeom>
          <a:solidFill>
            <a:srgbClr val="39FF9C"/>
          </a:solidFill>
          <a:ln/>
        </p:spPr>
      </p:sp>
      <p:sp>
        <p:nvSpPr>
          <p:cNvPr id="39" name="Shape 35"/>
          <p:cNvSpPr/>
          <p:nvPr/>
        </p:nvSpPr>
        <p:spPr>
          <a:xfrm>
            <a:off x="9346966" y="4025799"/>
            <a:ext cx="126997" cy="126997"/>
          </a:xfrm>
          <a:prstGeom prst="roundRect">
            <a:avLst>
              <a:gd name="adj" fmla="val 15000"/>
            </a:avLst>
          </a:prstGeom>
          <a:solidFill>
            <a:srgbClr val="39FF9C"/>
          </a:solidFill>
          <a:ln/>
        </p:spPr>
      </p:sp>
      <p:sp>
        <p:nvSpPr>
          <p:cNvPr id="40" name="Shape 36"/>
          <p:cNvSpPr/>
          <p:nvPr/>
        </p:nvSpPr>
        <p:spPr>
          <a:xfrm>
            <a:off x="9194570" y="4203595"/>
            <a:ext cx="126997" cy="126997"/>
          </a:xfrm>
          <a:prstGeom prst="roundRect">
            <a:avLst>
              <a:gd name="adj" fmla="val 15000"/>
            </a:avLst>
          </a:prstGeom>
          <a:solidFill>
            <a:srgbClr val="39FF9C"/>
          </a:solidFill>
          <a:ln/>
        </p:spPr>
      </p:sp>
      <p:sp>
        <p:nvSpPr>
          <p:cNvPr id="41" name="Shape 37"/>
          <p:cNvSpPr/>
          <p:nvPr/>
        </p:nvSpPr>
        <p:spPr>
          <a:xfrm>
            <a:off x="9346966" y="4203595"/>
            <a:ext cx="126997" cy="126997"/>
          </a:xfrm>
          <a:prstGeom prst="roundRect">
            <a:avLst>
              <a:gd name="adj" fmla="val 15000"/>
            </a:avLst>
          </a:prstGeom>
          <a:solidFill>
            <a:srgbClr val="39FF9C"/>
          </a:solidFill>
          <a:ln/>
        </p:spPr>
      </p:sp>
      <p:sp>
        <p:nvSpPr>
          <p:cNvPr id="42" name="Shape 38"/>
          <p:cNvSpPr/>
          <p:nvPr/>
        </p:nvSpPr>
        <p:spPr>
          <a:xfrm>
            <a:off x="9194570" y="4381390"/>
            <a:ext cx="126997" cy="126997"/>
          </a:xfrm>
          <a:prstGeom prst="roundRect">
            <a:avLst>
              <a:gd name="adj" fmla="val 15000"/>
            </a:avLst>
          </a:prstGeom>
          <a:solidFill>
            <a:srgbClr val="39FF9C"/>
          </a:solidFill>
          <a:ln/>
        </p:spPr>
      </p:sp>
      <p:sp>
        <p:nvSpPr>
          <p:cNvPr id="43" name="Shape 39"/>
          <p:cNvSpPr/>
          <p:nvPr/>
        </p:nvSpPr>
        <p:spPr>
          <a:xfrm>
            <a:off x="9346966" y="4381390"/>
            <a:ext cx="126997" cy="126997"/>
          </a:xfrm>
          <a:prstGeom prst="roundRect">
            <a:avLst>
              <a:gd name="adj" fmla="val 15000"/>
            </a:avLst>
          </a:prstGeom>
          <a:solidFill>
            <a:srgbClr val="39FF9C"/>
          </a:solidFill>
          <a:ln/>
        </p:spPr>
      </p:sp>
      <p:sp>
        <p:nvSpPr>
          <p:cNvPr id="44" name="Text 40"/>
          <p:cNvSpPr/>
          <p:nvPr/>
        </p:nvSpPr>
        <p:spPr>
          <a:xfrm>
            <a:off x="10108947" y="4165496"/>
            <a:ext cx="1473163" cy="203195"/>
          </a:xfrm>
          <a:prstGeom prst="rect">
            <a:avLst/>
          </a:prstGeom>
          <a:noFill/>
          <a:ln/>
        </p:spPr>
        <p:txBody>
          <a:bodyPr wrap="square" lIns="0" tIns="0" rIns="0" bIns="0" rtlCol="0" anchor="ctr">
            <a:normAutofit/>
          </a:bodyPr>
          <a:lstStyle/>
          <a:p>
            <a:pPr algn="l" indent="0" marL="0">
              <a:buNone/>
            </a:pPr>
            <a:r>
              <a:rPr lang="en-US" sz="1100" b="1" dirty="0">
                <a:solidFill>
                  <a:srgbClr val="EAFFF5"/>
                </a:solidFill>
                <a:latin typeface="JetBrains Mono" pitchFamily="34" charset="0"/>
                <a:ea typeface="JetBrains Mono" pitchFamily="34" charset="-122"/>
                <a:cs typeface="JetBrains Mono" pitchFamily="34" charset="-120"/>
              </a:rPr>
              <a:t>one-pager</a:t>
            </a:r>
            <a:endParaRPr lang="en-US" sz="1100" dirty="0"/>
          </a:p>
        </p:txBody>
      </p:sp>
      <p:sp>
        <p:nvSpPr>
          <p:cNvPr id="45" name="Shape 41"/>
          <p:cNvSpPr/>
          <p:nvPr/>
        </p:nvSpPr>
        <p:spPr>
          <a:xfrm>
            <a:off x="9131072" y="4927477"/>
            <a:ext cx="406390" cy="609585"/>
          </a:xfrm>
          <a:prstGeom prst="roundRect">
            <a:avLst>
              <a:gd name="adj" fmla="val 15625"/>
            </a:avLst>
          </a:prstGeom>
          <a:solidFill>
            <a:srgbClr val="05080D"/>
          </a:solidFill>
          <a:ln w="19050">
            <a:solidFill>
              <a:srgbClr val="39FF9C"/>
            </a:solidFill>
            <a:prstDash val="solid"/>
          </a:ln>
        </p:spPr>
      </p:sp>
      <p:sp>
        <p:nvSpPr>
          <p:cNvPr id="46" name="Shape 42"/>
          <p:cNvSpPr/>
          <p:nvPr/>
        </p:nvSpPr>
        <p:spPr>
          <a:xfrm>
            <a:off x="9219969" y="5054474"/>
            <a:ext cx="228594" cy="0"/>
          </a:xfrm>
          <a:prstGeom prst="line">
            <a:avLst/>
          </a:prstGeom>
          <a:noFill/>
          <a:ln w="25400">
            <a:solidFill>
              <a:srgbClr val="39FF9C"/>
            </a:solidFill>
            <a:prstDash val="solid"/>
            <a:headEnd type="none"/>
            <a:tailEnd type="none"/>
          </a:ln>
        </p:spPr>
      </p:sp>
      <p:sp>
        <p:nvSpPr>
          <p:cNvPr id="47" name="Shape 43"/>
          <p:cNvSpPr/>
          <p:nvPr/>
        </p:nvSpPr>
        <p:spPr>
          <a:xfrm>
            <a:off x="9219969" y="5143371"/>
            <a:ext cx="228594" cy="0"/>
          </a:xfrm>
          <a:prstGeom prst="line">
            <a:avLst/>
          </a:prstGeom>
          <a:noFill/>
          <a:ln w="25400">
            <a:solidFill>
              <a:srgbClr val="39FF9C"/>
            </a:solidFill>
            <a:prstDash val="solid"/>
            <a:headEnd type="none"/>
            <a:tailEnd type="none"/>
          </a:ln>
        </p:spPr>
      </p:sp>
      <p:sp>
        <p:nvSpPr>
          <p:cNvPr id="48" name="Shape 44"/>
          <p:cNvSpPr/>
          <p:nvPr/>
        </p:nvSpPr>
        <p:spPr>
          <a:xfrm>
            <a:off x="9219969" y="5232269"/>
            <a:ext cx="177796" cy="0"/>
          </a:xfrm>
          <a:prstGeom prst="line">
            <a:avLst/>
          </a:prstGeom>
          <a:noFill/>
          <a:ln w="25400">
            <a:solidFill>
              <a:srgbClr val="39FF9C"/>
            </a:solidFill>
            <a:prstDash val="solid"/>
            <a:headEnd type="none"/>
            <a:tailEnd type="none"/>
          </a:ln>
        </p:spPr>
      </p:sp>
      <p:sp>
        <p:nvSpPr>
          <p:cNvPr id="49" name="Shape 45"/>
          <p:cNvSpPr/>
          <p:nvPr/>
        </p:nvSpPr>
        <p:spPr>
          <a:xfrm>
            <a:off x="9219969" y="5321167"/>
            <a:ext cx="228594" cy="0"/>
          </a:xfrm>
          <a:prstGeom prst="line">
            <a:avLst/>
          </a:prstGeom>
          <a:noFill/>
          <a:ln w="25400">
            <a:solidFill>
              <a:srgbClr val="39FF9C"/>
            </a:solidFill>
            <a:prstDash val="solid"/>
            <a:headEnd type="none"/>
            <a:tailEnd type="none"/>
          </a:ln>
        </p:spPr>
      </p:sp>
      <p:sp>
        <p:nvSpPr>
          <p:cNvPr id="50" name="Shape 46"/>
          <p:cNvSpPr/>
          <p:nvPr/>
        </p:nvSpPr>
        <p:spPr>
          <a:xfrm>
            <a:off x="9219969" y="5410065"/>
            <a:ext cx="126997" cy="0"/>
          </a:xfrm>
          <a:prstGeom prst="line">
            <a:avLst/>
          </a:prstGeom>
          <a:noFill/>
          <a:ln w="25400">
            <a:solidFill>
              <a:srgbClr val="39FF9C"/>
            </a:solidFill>
            <a:prstDash val="solid"/>
            <a:headEnd type="none"/>
            <a:tailEnd type="none"/>
          </a:ln>
        </p:spPr>
      </p:sp>
      <p:sp>
        <p:nvSpPr>
          <p:cNvPr id="51" name="Text 47"/>
          <p:cNvSpPr/>
          <p:nvPr/>
        </p:nvSpPr>
        <p:spPr>
          <a:xfrm>
            <a:off x="10108947" y="5130672"/>
            <a:ext cx="1473163" cy="203195"/>
          </a:xfrm>
          <a:prstGeom prst="rect">
            <a:avLst/>
          </a:prstGeom>
          <a:noFill/>
          <a:ln/>
        </p:spPr>
        <p:txBody>
          <a:bodyPr wrap="square" lIns="0" tIns="0" rIns="0" bIns="0" rtlCol="0" anchor="ctr">
            <a:normAutofit/>
          </a:bodyPr>
          <a:lstStyle/>
          <a:p>
            <a:pPr algn="l" indent="0" marL="0">
              <a:buNone/>
            </a:pPr>
            <a:r>
              <a:rPr lang="en-US" sz="1100" b="1" dirty="0">
                <a:solidFill>
                  <a:srgbClr val="EAFFF5"/>
                </a:solidFill>
                <a:latin typeface="JetBrains Mono" pitchFamily="34" charset="0"/>
                <a:ea typeface="JetBrains Mono" pitchFamily="34" charset="-122"/>
                <a:cs typeface="JetBrains Mono" pitchFamily="34" charset="-120"/>
              </a:rPr>
              <a:t>doc</a:t>
            </a:r>
            <a:endParaRPr lang="en-US" sz="1100" dirty="0"/>
          </a:p>
        </p:txBody>
      </p:sp>
      <p:sp>
        <p:nvSpPr>
          <p:cNvPr id="52" name="Text 48"/>
          <p:cNvSpPr/>
          <p:nvPr/>
        </p:nvSpPr>
        <p:spPr>
          <a:xfrm>
            <a:off x="609585" y="6070448"/>
            <a:ext cx="5714857" cy="177796"/>
          </a:xfrm>
          <a:prstGeom prst="rect">
            <a:avLst/>
          </a:prstGeom>
          <a:noFill/>
          <a:ln/>
        </p:spPr>
        <p:txBody>
          <a:bodyPr wrap="square" lIns="0" tIns="0" rIns="0" bIns="0" rtlCol="0" anchor="ctr">
            <a:normAutofit/>
          </a:bodyPr>
          <a:lstStyle/>
          <a:p>
            <a:pPr algn="l" indent="0" marL="0">
              <a:buNone/>
            </a:pPr>
            <a:r>
              <a:rPr lang="en-US" sz="1000" b="1" dirty="0">
                <a:solidFill>
                  <a:srgbClr val="7F9BB0"/>
                </a:solidFill>
                <a:latin typeface="JetBrains Mono" pitchFamily="34" charset="0"/>
                <a:ea typeface="JetBrains Mono" pitchFamily="34" charset="-122"/>
                <a:cs typeface="JetBrains Mono" pitchFamily="34" charset="-120"/>
              </a:rPr>
              <a:t>*Dogfood: this repo, explained in its own seed style.</a:t>
            </a:r>
            <a:endParaRPr lang="en-US" sz="1000" dirty="0"/>
          </a:p>
        </p:txBody>
      </p:sp>
      <p:sp>
        <p:nvSpPr>
          <p:cNvPr id="53" name="Text 49"/>
          <p:cNvSpPr/>
          <p:nvPr/>
        </p:nvSpPr>
        <p:spPr>
          <a:xfrm>
            <a:off x="10312142" y="6070448"/>
            <a:ext cx="1269968" cy="177796"/>
          </a:xfrm>
          <a:prstGeom prst="rect">
            <a:avLst/>
          </a:prstGeom>
          <a:noFill/>
          <a:ln/>
        </p:spPr>
        <p:txBody>
          <a:bodyPr wrap="square" lIns="0" tIns="0" rIns="0" bIns="0" rtlCol="0" anchor="ctr">
            <a:normAutofit/>
          </a:bodyPr>
          <a:lstStyle/>
          <a:p>
            <a:pPr algn="r" indent="0" marL="0">
              <a:buNone/>
            </a:pPr>
            <a:r>
              <a:rPr lang="en-US" sz="1000" b="1" dirty="0">
                <a:solidFill>
                  <a:srgbClr val="7F9BB0"/>
                </a:solidFill>
                <a:latin typeface="JetBrains Mono" pitchFamily="34" charset="0"/>
                <a:ea typeface="JetBrains Mono" pitchFamily="34" charset="-122"/>
                <a:cs typeface="JetBrains Mono" pitchFamily="34" charset="-120"/>
              </a:rPr>
              <a:t>06 / 06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Rocket Explainer: The Style Loop Is the Product</dc:title>
  <dc:subject>PptxGenJS Presentation</dc:subject>
  <dc:creator>PptxGenJS</dc:creator>
  <cp:lastModifiedBy>PptxGenJS</cp:lastModifiedBy>
  <cp:revision>1</cp:revision>
  <dcterms:created xsi:type="dcterms:W3CDTF">2026-10-01T20:49:19Z</dcterms:created>
  <dcterms:modified xsi:type="dcterms:W3CDTF">2026-10-01T20:49:19Z</dcterms:modified>
</cp:coreProperties>
</file>